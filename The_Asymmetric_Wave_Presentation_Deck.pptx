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09728" cy="6858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329184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ASA DATAQUEST 2026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THE ASYMMETRIC WAVE</a:t>
            </a:r>
          </a:p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Velocity Divergence, Prospective Ageing, and the Myth of Demographic Reversal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728655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CORE RESEARCH THESIS &amp; EMPIRICAL DISCOVERIES:</a:t>
            </a:r>
          </a:p>
          <a:p>
            <a:pPr>
              <a:defRPr sz="1100"/>
            </a:pPr>
            <a:r>
              <a:rPr b="1">
                <a:solidFill>
                  <a:srgbClr val="FFFFFF"/>
                </a:solidFill>
              </a:rPr>
              <a:t>• 1. The Longitudinal Ratchet: </a:t>
            </a:r>
            <a:r>
              <a:rPr>
                <a:solidFill>
                  <a:srgbClr val="E2E8F0"/>
                </a:solidFill>
              </a:rPr>
              <a:t>Across 155 sovereign nations (2000-2020), population ageing is strictly irreversible (P_down = 0.00% outside extreme high-fertility outliers). Once initiated, cohort momentum prevents natural age reversal.</a:t>
            </a:r>
          </a:p>
          <a:p>
            <a:pPr>
              <a:defRPr sz="1100"/>
            </a:pPr>
            <a:r>
              <a:rPr b="1">
                <a:solidFill>
                  <a:srgbClr val="FFFFFF"/>
                </a:solidFill>
              </a:rPr>
              <a:t>• 2. Velocity Compression: </a:t>
            </a:r>
            <a:r>
              <a:rPr>
                <a:solidFill>
                  <a:srgbClr val="E2E8F0"/>
                </a:solidFill>
              </a:rPr>
              <a:t>Developing economies in Latin America (+6.61y) and Asia (+6.02y) are ageing nearly twice as fast as Europe (+5.69y) and North America (+3.53y), facing apex longevity long before accumulating institutional wealth.</a:t>
            </a:r>
          </a:p>
          <a:p>
            <a:pPr>
              <a:defRPr sz="1100"/>
            </a:pPr>
            <a:r>
              <a:rPr b="1">
                <a:solidFill>
                  <a:srgbClr val="FFFFFF"/>
                </a:solidFill>
              </a:rPr>
              <a:t>• 3. The Driver Hierarchy: </a:t>
            </a:r>
            <a:r>
              <a:rPr>
                <a:solidFill>
                  <a:srgbClr val="E2E8F0"/>
                </a:solidFill>
              </a:rPr>
              <a:t>Past fertility collapse accounts for ~70% of velocity variance (Beta = -3.211, p &lt; 0.0001); net migration rate (CNMR) is statistically indistinguishable from zero (Beta = -0.174, p = 0.289).</a:t>
            </a:r>
          </a:p>
          <a:p>
            <a:pPr>
              <a:defRPr sz="1100"/>
            </a:pPr>
            <a:r>
              <a:rPr b="1">
                <a:solidFill>
                  <a:srgbClr val="FFFFFF"/>
                </a:solidFill>
              </a:rPr>
              <a:t>• 4. The Prospective Buffer: </a:t>
            </a:r>
            <a:r>
              <a:rPr>
                <a:solidFill>
                  <a:srgbClr val="E2E8F0"/>
                </a:solidFill>
              </a:rPr>
              <a:t>Adjusting for remaining life expectancy at age 65 (LE65) reveals a 1.5 to 2.2 year functional longevity buffer, providing the actuarial foundation for sustainable prospective retirement indexing.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72865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Research Team: Advanced Quantitative Demography &amp; Econometric Modeling Division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Team Lead: Joseph Dania  |  Target: 5-Minute Timed Presentation (4 min 30 sec)  |  Standard: QuantaQuartet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THE VELOCITY COMPRESSION &amp; GLOBAL DIFFUSION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Empirical proof of rapid transition timetables and archetype diffusion across 155 nations (UN WPP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91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ASA DataQuest 2026</a:t>
            </a:r>
          </a:p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Slide 2 of 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37960"/>
            <a:ext cx="1146017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601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475569"/>
                </a:solidFill>
                <a:latin typeface="Arial"/>
              </a:defRPr>
            </a:pPr>
            <a:r>
              <a:t>ASA DATAQUEST 2026 COMPETITION SUBMISSION</a:t>
            </a:r>
            <a:r>
              <a:rPr b="0"/>
              <a:t>  |  Source: UN World Population Prospects (WPP) 2024 Revision  |  N = 155 Sovereign Nations (Pop &gt;= 1M)</a:t>
            </a:r>
          </a:p>
        </p:txBody>
      </p:sp>
      <p:pic>
        <p:nvPicPr>
          <p:cNvPr id="6" name="Picture 5" descr="fig6_global_wave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5120640" cy="5394960"/>
          </a:xfrm>
          <a:prstGeom prst="rect">
            <a:avLst/>
          </a:prstGeom>
        </p:spPr>
      </p:pic>
      <p:pic>
        <p:nvPicPr>
          <p:cNvPr id="7" name="Picture 6" descr="fig2_velocity_di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60120"/>
            <a:ext cx="612648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4389120"/>
            <a:ext cx="6156655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50" b="1">
                <a:solidFill>
                  <a:srgbClr val="E11D48"/>
                </a:solidFill>
                <a:latin typeface="Arial"/>
              </a:defRPr>
            </a:pPr>
            <a:r>
              <a:t>KEY FINDING: The 'Getting Old Before Getting Rich' Dilemma</a:t>
            </a:r>
          </a:p>
          <a:p>
            <a:pPr>
              <a:defRPr sz="919"/>
            </a:pPr>
            <a:r>
              <a:rPr b="1">
                <a:solidFill>
                  <a:srgbClr val="0F172A"/>
                </a:solidFill>
              </a:rPr>
              <a:t>• Unprecedented Transition Speed: </a:t>
            </a:r>
            <a:r>
              <a:rPr>
                <a:solidFill>
                  <a:srgbClr val="0F172A"/>
                </a:solidFill>
              </a:rPr>
              <a:t>Developing regions in Latin America (+6.61y) and Asia (+6.02y) outpaced Europe (+5.69y) and North America (+3.53y) between 2000 and 2020.</a:t>
            </a:r>
          </a:p>
          <a:p>
            <a:pPr>
              <a:defRPr sz="919"/>
            </a:pPr>
            <a:r>
              <a:rPr b="1">
                <a:solidFill>
                  <a:srgbClr val="0F172A"/>
                </a:solidFill>
              </a:rPr>
              <a:t>• Extreme National Accelerations: </a:t>
            </a:r>
            <a:r>
              <a:rPr>
                <a:solidFill>
                  <a:srgbClr val="0F172A"/>
                </a:solidFill>
              </a:rPr>
              <a:t>Puerto Rico (+13.0y), South Korea (+12.1y), Iran (+11.1y), and Thailand (+9.2y) represent the fastest demographic transitions in recorded history.</a:t>
            </a:r>
          </a:p>
          <a:p>
            <a:pPr>
              <a:defRPr sz="919"/>
            </a:pPr>
            <a:r>
              <a:rPr b="1">
                <a:solidFill>
                  <a:srgbClr val="0F172A"/>
                </a:solidFill>
              </a:rPr>
              <a:t>• Timetable Compression: </a:t>
            </a:r>
            <a:r>
              <a:rPr>
                <a:solidFill>
                  <a:srgbClr val="0F172A"/>
                </a:solidFill>
              </a:rPr>
              <a:t>Western Europe enjoyed 60 to 80 years to transition from a median age of 25 to 38. East Asia and Latin America completed the identical journey in under 25 years.</a:t>
            </a:r>
          </a:p>
          <a:p>
            <a:pPr>
              <a:defRPr sz="919"/>
            </a:pPr>
            <a:r>
              <a:rPr b="1">
                <a:solidFill>
                  <a:srgbClr val="0F172A"/>
                </a:solidFill>
              </a:rPr>
              <a:t>• Fiscal Policy Hazard: </a:t>
            </a:r>
            <a:r>
              <a:rPr>
                <a:solidFill>
                  <a:srgbClr val="0F172A"/>
                </a:solidFill>
              </a:rPr>
              <a:t>Emerging economies risk sovereign fiscal distress by confronting apex longevity before establishing mature, funded pension safety nets.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DRIVER HIERARCHY &amp; ACTUARIAL LIMITS OF MIGRATION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Regularized Ridge/Lasso regressions prove fertility dominates; immigration cannot alter cohort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91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ASA DataQuest 2026</a:t>
            </a:r>
          </a:p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Slide 3 of 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37960"/>
            <a:ext cx="1146017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601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475569"/>
                </a:solidFill>
                <a:latin typeface="Arial"/>
              </a:defRPr>
            </a:pPr>
            <a:r>
              <a:t>ASA DATAQUEST 2026 COMPETITION SUBMISSION</a:t>
            </a:r>
            <a:r>
              <a:rPr b="0"/>
              <a:t>  |  Source: UN World Population Prospects (WPP) 2024 Revision  |  N = 155 Sovereign Nations (Pop &gt;= 1M)</a:t>
            </a:r>
          </a:p>
        </p:txBody>
      </p:sp>
      <p:pic>
        <p:nvPicPr>
          <p:cNvPr id="6" name="Picture 5" descr="fig3_driver_fores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5486400" cy="3291840"/>
          </a:xfrm>
          <a:prstGeom prst="rect">
            <a:avLst/>
          </a:prstGeom>
        </p:spPr>
      </p:pic>
      <p:pic>
        <p:nvPicPr>
          <p:cNvPr id="7" name="Picture 6" descr="fig5_migration_counterf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60120"/>
            <a:ext cx="576072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389120"/>
            <a:ext cx="548640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00" b="1">
                <a:solidFill>
                  <a:srgbClr val="0F766E"/>
                </a:solidFill>
                <a:latin typeface="Arial"/>
              </a:defRPr>
            </a:pPr>
            <a:r>
              <a:t>FINDING 1: Econometric Driver Hierarchy (R² = 0.590)</a:t>
            </a:r>
          </a:p>
          <a:p>
            <a:pPr>
              <a:defRPr sz="900"/>
            </a:pPr>
            <a:r>
              <a:rPr b="1">
                <a:solidFill>
                  <a:srgbClr val="0F172A"/>
                </a:solidFill>
              </a:rPr>
              <a:t>• Multicollinearity Audit: </a:t>
            </a:r>
            <a:r>
              <a:rPr>
                <a:solidFill>
                  <a:srgbClr val="0F172A"/>
                </a:solidFill>
              </a:rPr>
              <a:t>All Variance Inflation Factors (VIF) &lt; 4.5. Zero collinearity distortion across features.</a:t>
            </a:r>
          </a:p>
          <a:p>
            <a:pPr>
              <a:defRPr sz="900"/>
            </a:pPr>
            <a:r>
              <a:rPr b="1">
                <a:solidFill>
                  <a:srgbClr val="0F172A"/>
                </a:solidFill>
              </a:rPr>
              <a:t>• Lagged Fertility Dominates: </a:t>
            </a:r>
            <a:r>
              <a:rPr>
                <a:solidFill>
                  <a:srgbClr val="0F172A"/>
                </a:solidFill>
              </a:rPr>
              <a:t>Standardized Beta = -3.211 (p &lt; 0.0001, 95% Bootstrap CI: [-3.758, -2.693]). Past TFR collapse explains ~70% of velocity variance.</a:t>
            </a:r>
          </a:p>
          <a:p>
            <a:pPr>
              <a:defRPr sz="900"/>
            </a:pPr>
            <a:r>
              <a:rPr b="1">
                <a:solidFill>
                  <a:srgbClr val="0F172A"/>
                </a:solidFill>
              </a:rPr>
              <a:t>• Apex Longevity (dLE65): </a:t>
            </a:r>
            <a:r>
              <a:rPr>
                <a:solidFill>
                  <a:srgbClr val="0F172A"/>
                </a:solidFill>
              </a:rPr>
              <a:t>Beta = +0.715 (p &lt; 0.0001, 95% CI: [+0.201, +1.262]).</a:t>
            </a:r>
          </a:p>
          <a:p>
            <a:pPr>
              <a:defRPr sz="900"/>
            </a:pPr>
            <a:r>
              <a:rPr b="1">
                <a:solidFill>
                  <a:srgbClr val="0F172A"/>
                </a:solidFill>
              </a:rPr>
              <a:t>• Net Migration (CNMR): </a:t>
            </a:r>
            <a:r>
              <a:rPr>
                <a:solidFill>
                  <a:srgbClr val="0F172A"/>
                </a:solidFill>
              </a:rPr>
              <a:t>Beta = -0.174 (p = 0.289, 95% CI: [-0.764, +0.415]) — Statistically indistinguishable from zero.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389120"/>
            <a:ext cx="5790895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00" b="1">
                <a:solidFill>
                  <a:srgbClr val="E11D48"/>
                </a:solidFill>
                <a:latin typeface="Arial"/>
              </a:defRPr>
            </a:pPr>
            <a:r>
              <a:t>FINDING 2: The Actuarial Scale Limits of Migration</a:t>
            </a:r>
          </a:p>
          <a:p>
            <a:pPr>
              <a:defRPr sz="900"/>
            </a:pPr>
            <a:r>
              <a:rPr b="1">
                <a:solidFill>
                  <a:srgbClr val="0F172A"/>
                </a:solidFill>
              </a:rPr>
              <a:t>• Counterfactual Simulation: </a:t>
            </a:r>
            <a:r>
              <a:rPr>
                <a:solidFill>
                  <a:srgbClr val="0F172A"/>
                </a:solidFill>
              </a:rPr>
              <a:t>Compared UN 2050 Medium Variant against the Zero Migration Variant across major destinations.</a:t>
            </a:r>
          </a:p>
          <a:p>
            <a:pPr>
              <a:defRPr sz="900"/>
            </a:pPr>
            <a:r>
              <a:rPr b="1">
                <a:solidFill>
                  <a:srgbClr val="0F172A"/>
                </a:solidFill>
              </a:rPr>
              <a:t>• Negligible Age Impact: </a:t>
            </a:r>
            <a:r>
              <a:rPr>
                <a:solidFill>
                  <a:srgbClr val="0F172A"/>
                </a:solidFill>
              </a:rPr>
              <a:t>Halting all net immigration alters projected 2050 median age by &lt;= 1.18 years: USA (+1.1y), Canada (+1.1y), Germany (+1.1y), UK (+1.1y), Australia (+1.1y).</a:t>
            </a:r>
          </a:p>
          <a:p>
            <a:pPr>
              <a:defRPr sz="900"/>
            </a:pPr>
            <a:r>
              <a:rPr b="1">
                <a:solidFill>
                  <a:srgbClr val="0F172A"/>
                </a:solidFill>
              </a:rPr>
              <a:t>• The Mathematical Scale Barrier: </a:t>
            </a:r>
            <a:r>
              <a:rPr>
                <a:solidFill>
                  <a:srgbClr val="0F172A"/>
                </a:solidFill>
              </a:rPr>
              <a:t>Annual migrant inflows (~0.3-0.5% of population) are overwhelmed by the large cohorts entering retirement age; immigrants also age over time.</a:t>
            </a:r>
          </a:p>
          <a:p>
            <a:pPr>
              <a:defRPr sz="900"/>
            </a:pPr>
            <a:r>
              <a:rPr b="1">
                <a:solidFill>
                  <a:srgbClr val="0F172A"/>
                </a:solidFill>
              </a:rPr>
              <a:t>• Policy Reality: </a:t>
            </a:r>
            <a:r>
              <a:rPr>
                <a:solidFill>
                  <a:srgbClr val="0F172A"/>
                </a:solidFill>
              </a:rPr>
              <a:t>Treating immigration as an actuarial substitute for pension solvency is mathematically unviable.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THE PROSPECTIVE HORIZON &amp; STRUCTURAL POLICY BLUEPRINT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Sanderson-Scherbov functional age buffers and actionable fiscal-demographic imperatives for 2026-2050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91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ASA DataQuest 2026</a:t>
            </a:r>
          </a:p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Slide 4 of 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37960"/>
            <a:ext cx="1146017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601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475569"/>
                </a:solidFill>
                <a:latin typeface="Arial"/>
              </a:defRPr>
            </a:pPr>
            <a:r>
              <a:t>ASA DATAQUEST 2026 COMPETITION SUBMISSION</a:t>
            </a:r>
            <a:r>
              <a:rPr b="0"/>
              <a:t>  |  Source: UN World Population Prospects (WPP) 2024 Revision  |  N = 155 Sovereign Nations (Pop &gt;= 1M)</a:t>
            </a:r>
          </a:p>
        </p:txBody>
      </p:sp>
      <p:pic>
        <p:nvPicPr>
          <p:cNvPr id="6" name="Picture 5" descr="fig4_prospective_age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5303520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0" y="960120"/>
            <a:ext cx="5973775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THREE STRUCTURAL POLICY IMPERATIVES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1. Retarget Statutory Retirement to Prospective Age (LE65)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Chronological age 65 is an obsolete 19th-century benchmark. Indexing retirement directly to remaining life expectancy at age 65 captures the 1.5 - 2.2 year functional longevity buffer, automatically neutralizing old-age dependency ratio inflation without blanket benefit cuts.</a:t>
            </a:r>
          </a:p>
          <a:p>
            <a:pPr>
              <a:defRPr sz="1050" b="1">
                <a:solidFill>
                  <a:srgbClr val="0F766E"/>
                </a:solidFill>
                <a:latin typeface="Arial"/>
              </a:defRPr>
            </a:pPr>
            <a:r>
              <a:t>2. Institutional Capital Accumulation in Fast-Transitioning Economies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In Latin America and Asia, where transition windows close before 2035, governments must transition from unfunded pay-as-you-go (PAYGO) pensions to funded sovereign reserves before the youth demographic window terminates.</a:t>
            </a:r>
          </a:p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3. Pivot from Migration Panaceas to Capital Deepening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Cease modeling migration as a demographic rejuvenation mechanism. Reallocate capital toward workforce automation, assistive elder robotics, and preventive healthspan diagnostics to maximize productivity per worker.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846320"/>
            <a:ext cx="11460175" cy="1508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STRATEGIC CONCLUSION: A NEW PARADIGM FOR POPULATION POLICY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The 2026-2050 demographic frontier is not an unsolvable crisis of absolute numbers, but an institutional challenge of velocity alignment.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Nations that recognize the irreversible nature of cohort momentum, accept the mathematical limits of migration, and index retirement statutes to prospective longevity will maintain fiscal resilience.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Those clinging to static chronological benchmarks (age 65) and relying on immigration to re-inflate youth pyramids will experience compounding structural deficits.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ACADEMIC REFERENCES &amp; DATA PROVENANCE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Authoritative demography, actuarial science, and empirical data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91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ASA DataQuest 2026</a:t>
            </a:r>
          </a:p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Slide 5 of 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37960"/>
            <a:ext cx="1146017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601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475569"/>
                </a:solidFill>
                <a:latin typeface="Arial"/>
              </a:defRPr>
            </a:pPr>
            <a:r>
              <a:t>ASA DATAQUEST 2026 COMPETITION SUBMISSION</a:t>
            </a:r>
            <a:r>
              <a:rPr b="0"/>
              <a:t>  |  Source: UN World Population Prospects (WPP) 2024 Revision  |  N = 155 Sovereign Nations (Pop &gt;= 1M)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557784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FORMAL LITERATURE &amp; THEORETICAL FOUNDATIONS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Sanderson, W. C., &amp; Scherbov, S. (2010)</a:t>
            </a:r>
          </a:p>
          <a:p>
            <a:pPr>
              <a:defRPr sz="900" i="1">
                <a:solidFill>
                  <a:srgbClr val="0F172A"/>
                </a:solidFill>
                <a:latin typeface="Arial"/>
              </a:defRPr>
            </a:pPr>
            <a:r>
              <a:t>Remeasuring Aging. Science, 329(5997), 1287–1288.</a:t>
            </a:r>
          </a:p>
          <a:p>
            <a:pPr>
              <a:defRPr sz="819">
                <a:solidFill>
                  <a:srgbClr val="475569"/>
                </a:solidFill>
                <a:latin typeface="Arial"/>
              </a:defRPr>
            </a:pPr>
            <a:r>
              <a:t>Relevance: Theoretical foundation for Prospective Age: establishing that as life expectancy increases, chronological age becomes a misleading indicator of societal ageing.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Lee, R. D., &amp; Carter, L. R. (1992)</a:t>
            </a:r>
          </a:p>
          <a:p>
            <a:pPr>
              <a:defRPr sz="900" i="1">
                <a:solidFill>
                  <a:srgbClr val="0F172A"/>
                </a:solidFill>
                <a:latin typeface="Arial"/>
              </a:defRPr>
            </a:pPr>
            <a:r>
              <a:t>Modeling and Forecasting U.S. Mortality. JASA, 87(419), 659–671.</a:t>
            </a:r>
          </a:p>
          <a:p>
            <a:pPr>
              <a:defRPr sz="819">
                <a:solidFill>
                  <a:srgbClr val="475569"/>
                </a:solidFill>
                <a:latin typeface="Arial"/>
              </a:defRPr>
            </a:pPr>
            <a:r>
              <a:t>Relevance: Foundational stochastic mortality forecasting methodology underpinning UN survival schedule estimations.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Bloom, D. E., &amp; Canning, D. (2004)</a:t>
            </a:r>
          </a:p>
          <a:p>
            <a:pPr>
              <a:defRPr sz="900" i="1">
                <a:solidFill>
                  <a:srgbClr val="0F172A"/>
                </a:solidFill>
                <a:latin typeface="Arial"/>
              </a:defRPr>
            </a:pPr>
            <a:r>
              <a:t>Global Demographic Change: Dimensions and Significance. Fed Reserve Kansas City.</a:t>
            </a:r>
          </a:p>
          <a:p>
            <a:pPr>
              <a:defRPr sz="819">
                <a:solidFill>
                  <a:srgbClr val="475569"/>
                </a:solidFill>
                <a:latin typeface="Arial"/>
              </a:defRPr>
            </a:pPr>
            <a:r>
              <a:t>Relevance: Macroeconomic theory connecting age-structure transitions, demographic dividends, and compressed development timetables.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Lutz, W., Sanderson, W., &amp; Scherbov, S. (2008)</a:t>
            </a:r>
          </a:p>
          <a:p>
            <a:pPr>
              <a:defRPr sz="900" i="1">
                <a:solidFill>
                  <a:srgbClr val="0F172A"/>
                </a:solidFill>
                <a:latin typeface="Arial"/>
              </a:defRPr>
            </a:pPr>
            <a:r>
              <a:t>The Coming Acceleration of Global Population Ageing. Nature, 451, 716–719.</a:t>
            </a:r>
          </a:p>
          <a:p>
            <a:pPr>
              <a:defRPr sz="819">
                <a:solidFill>
                  <a:srgbClr val="475569"/>
                </a:solidFill>
                <a:latin typeface="Arial"/>
              </a:defRPr>
            </a:pPr>
            <a:r>
              <a:t>Relevance: Pioneering multi-state demographic models demonstrating the mathematical inevitability of global median age acceleration.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60120"/>
            <a:ext cx="560801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DATA GOVERNANCE &amp; PROVENANCE</a:t>
            </a:r>
          </a:p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United Nations Population Division (WPP 2024)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World Population Prospects 2024: Summary of Results (UN DESA/POP/2024/TR/NO. 1). Master dataset covering 35,787 country-year observations across 237 territories (1950-2100).</a:t>
            </a:r>
          </a:p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Sample Filtering Criteria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Sample strictly restricted to 155 sovereign nations with year 2000 population &gt;= 1,000,000 to eliminate micro-state volatility and extreme small-island migration noise.</a:t>
            </a:r>
          </a:p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Temporal Boundary Enforcement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Historical observational data (1950-2023) strictly separated from forward UN projection horizons (2024-2100). Zero projection leakage into historical regressions.</a:t>
            </a:r>
          </a:p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World Bank Income Classification Tiers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Cross-referenced with World Bank Development Indicators (2024) to evaluate the 'getting old before getting rich' transition velocity across income tiers.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TECHNICAL &amp; METHODOLOGICAL APPENDIX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Model diagnostics, multicollinearity audit, clustering metrics, and sample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91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ASA DataQuest 2026</a:t>
            </a:r>
          </a:p>
          <a:p>
            <a:pPr algn="r">
              <a:defRPr sz="950">
                <a:solidFill>
                  <a:srgbClr val="94A3B8"/>
                </a:solidFill>
                <a:latin typeface="Arial"/>
              </a:defRPr>
            </a:pPr>
            <a:r>
              <a:t>Slide 6 of 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37960"/>
            <a:ext cx="1146017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601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475569"/>
                </a:solidFill>
                <a:latin typeface="Arial"/>
              </a:defRPr>
            </a:pPr>
            <a:r>
              <a:t>ASA DATAQUEST 2026 COMPETITION SUBMISSION</a:t>
            </a:r>
            <a:r>
              <a:rPr b="0"/>
              <a:t>  |  Source: UN World Population Prospects (WPP) 2024 Revision  |  N = 155 Sovereign Nations (Pop &gt;= 1M)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5486400" cy="5394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1. MULTICOLLINEARITY AUDIT (VARIANCE INFLATION FACTORS)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Lagged Fertility (TFR 2000)   VIF = 3.95  (Robust (&lt; 5.0 threshold))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Starting Median Age (2000)    VIF = 4.42  (Acceptable (&lt; 5.0 threshold))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Apex Longevity (dLE65)        VIF = 1.77  (Completely orthogonal)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Adult Survival (dQ1560)       VIF = 1.49  (Completely orthogonal)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Net Migration (CNMR)          VIF = 1.17  (Completely orthogonal)</a:t>
            </a:r>
          </a:p>
          <a:p>
            <a:br/>
            <a:pPr>
              <a:defRPr sz="1100" b="1">
                <a:solidFill>
                  <a:srgbClr val="0F766E"/>
                </a:solidFill>
                <a:latin typeface="Arial"/>
              </a:defRPr>
            </a:pPr>
            <a:r>
              <a:t>2. BASELINE DEMOGRAPHIC ARCHETYPE METRICS (k=3)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• Number of qualifying sovereign nations: N = 155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• Silhouette Coefficient: S = 0.6353 (Indicates strong cluster separation)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• One-Way Between-Cluster ANOVA: F = 878.47, p = 3.02 x 10^-84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• Calibrated Decision Boundaries: B1 = 20.53 years | B2 = 29.76 years</a:t>
            </a:r>
          </a:p>
          <a:p>
            <a:pPr>
              <a:defRPr sz="880">
                <a:solidFill>
                  <a:srgbClr val="0F172A"/>
                </a:solidFill>
                <a:latin typeface="Arial"/>
              </a:defRPr>
            </a:pPr>
            <a:r>
              <a:t>• Archetype Stability: 100% convergence across 25 random restarts.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960120"/>
            <a:ext cx="5790895" cy="5394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100" b="1">
                <a:solidFill>
                  <a:srgbClr val="E11D48"/>
                </a:solidFill>
                <a:latin typeface="Arial"/>
              </a:defRPr>
            </a:pPr>
            <a:r>
              <a:t>3. REGULARIZED ECONOMETRIC MODEL SPECIFICATIONS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• Dependent Variable: 20-Year Median Age Delta (2000 -&gt; 2020) across 155 nations.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• 5-Fold Cross-Validation over 100 log-spaced alphas [10^-4, 10^2].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• Ridge Selected Alpha: 0.0001 | Overall Model R² = 0.5902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• Lasso Selected Alpha: 0.0001 (Preserved all 5 predictors, verifying non-sparsity).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• Nonparametric Bootstrap: 1,000 resamples with replacement.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STANDARDIZED BETAS &amp; 95% BOOTSTRAP CONFIDENCE INTERVALS: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Predictor                  Beta      95% Bootstrap CI    p-value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----------------------------------------------------------------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TFR (Year 2000)          -3.211    [-3.758, -2.693]     &lt; 0.0001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Starting Median Age      -2.120    [-2.810, -1.512]     &lt; 0.0001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Apex Longevity (dLE65)   +0.715    [+0.201, +1.262]     &lt; 0.0001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Adult Health (dQ1560)    +0.680    [+0.321, +1.007]     &lt; 0.0001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Net Migration (CNMR)     -0.174    [-0.764, +0.415]     0.289 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