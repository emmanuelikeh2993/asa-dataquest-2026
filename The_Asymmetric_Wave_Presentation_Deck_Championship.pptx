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SPOKEN SCRIPT (Target: 0:00 - 0:45 | 45 sec):</a:t>
            </a:r>
          </a:p>
          <a:p>
            <a:r>
              <a:t>Good morning, esteemed members of the judging panel. Across the global economic literature, population ageing is almost universally treated as a slow, predictable, Western challenge. The conventional policy consensus assumes developing nations have decades to prepare, and that high-income destinations can easily counteract demographic decline through targeted immigration. Our empirical investigation of the official UN World Population Prospects 2024 data dismantles both assumptions. We demonstrate that global demographic transition is not a gentle tide, but an Asymmetric Wave. First, across 155 sovereign nations over twenty years, demographic transition is strictly unidirectional: exactly zero nations reversed to a younger stage. Second, developing nations in Latin America and Asia are ageing at double the historical speed of the West, getting old before getting rich. Third, our regularized econometric decomposition proves immigration cannot rejuvenate destination economies: halting 100% of immigration alters projected 2050 median age by barely 2.2 years. Finally, by transitioning from chronological to prospective longevity metrics, we uncover a hidden 1.5 to 2.2 year biological buffer that unlocks a mathematically sound actuarial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SPOKEN SCRIPT (Target: 0:45 - 1:40 | 55 sec):</a:t>
            </a:r>
          </a:p>
          <a:p>
            <a:r>
              <a:t>Turning to Slide 2, we track the macro-geographic propagation of this wave across three distinct epochs: the 2000 baseline, the 2020 midpoint, and the 2040 UN projection frontier. Notice the dramatic spatial transformation. In 2000, mature ageing was confined almost exclusively to Western Europe and Japan. By 2020, mature and transitional stages expanded across Latin America, East Asia, and Southeastern Europe. By 2040, nearly 80% of the world's population resides in mature post-transitional demographies. Crucially, our Markov transition matrix reveals an empirical law: out of 155 nations, 46 transitioned into older clusters, and exactly zero reversed. But the most alarming finding is velocity compression. Western Europe enjoyed 75 years to build social security safety nets while median age rose from 25 to 38. Thailand, Iran, and South Korea traversed that exact same distance in less than 25 years. Developing nations are confronting apex dependency ratios with only a fraction of Western capital reserves.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SPOKEN SCRIPT (Target: 1:40 - 2:35 | 55 sec):</a:t>
            </a:r>
          </a:p>
          <a:p>
            <a:r>
              <a:t>What drives this asymmetric velocity? To resolve collinearity between demographic rates, we estimated regularized Ridge regressions across 155 sovereign nations. As shown in the forest plot on the left, lagged fertility collapse is the overwhelming driver, with a standardized beta of negative 3.21. In stark contrast, net migration yields a beta of negative 0.17 with a 95% bootstrap confidence interval that comfortably spans zero, rendering it statistically null. To stress-test this finding, we queried the UN WPP 2024 Zero-Migration counterfactual variant on the right. Notice that completely halting all immigration into the United States, Canada, Germany, the UK, and Australia alters projected 2050 median age by an average of only 2.2 years. Why? Because annual migrant inflows of 0.3% of the population are mathematically swamped by expanding retiree cohorts who also age in place. The demographic wave cannot be stopped at the border.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SPOKEN SCRIPT (Target: 2:35 - 3:25 | 50 sec):</a:t>
            </a:r>
          </a:p>
          <a:p>
            <a:r>
              <a:t>If demographic reversal is impossible and immigration cannot reverse the wave, are economies doomed to fiscal insolvency? The answer is no, because standard chronological metrics measure the wrong variable. On Slide 4, we introduce the prospective age framework pioneered by Sanderson and Scherbov. Chronological age counts years lived; prospective age measures remaining years to death. Look closely at the scatterplot on the left: across all 155 sovereign nations, societies systematically sit below the 45-degree parity line. Expanding adult life expectancy at age 65 creates a functional longevity dividend that buffers nominal chronological ageing by 1.5 to 2.2 years. A 65-year-old in Japan, Germany, or Chile today possesses the remaining life expectancy and cognitive capacity of a 58-year-old two generations ago. When Bismarck established retirement at 65 in 1889, life expectancy at 65 was barely 8 years; today it exceeds 20. Re-indexing retirement to prospective longevity transforms the dependency ratio crisis into a solvable actuarial transition.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SPOKEN SCRIPT (Target: 3:25 - 4:10 | 45 sec):</a:t>
            </a:r>
          </a:p>
          <a:p>
            <a:r>
              <a:t>Grounded in this empirical evidence, Slide 5 presents our four-pillar actuarial architecture for the post-reversal era. First, Dynamic Longevity Indexing: we must replace arbitrary political debates over statutory retirement with an automatic stabilizer linking retirement age directly to gains in remaining life expectancy at age 65. Second, Pre-Funded Sovereign Reserves: fast-transitioning economies in Latin America and Asia must pivot away from unfunded PAYGO schemes before their demographic dividend expires around 2035. Third, Silver-Economy Productivity: we must eliminate tax disincentives on post-retirement employment and refocus health systems on morbidity compression. Fourth, Capital Deepening: rather than pursuing futile natalist subsidies or unviable migration volumes, mature economies must invest in automation and artificial intelligence to sustain GDP per capita as labor force volume plateaus.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SPOKEN SCRIPT (Target: 4:10 - 4:30 | 20 sec):</a:t>
            </a:r>
          </a:p>
          <a:p>
            <a:r>
              <a:t>To ensure uncompromising research integrity, Slide 6 provides our full methodological compendium. Our multicollinearity audit confirms all Variance Inflation Factors remain below 4.5, well beneath the conservative 5.0 ceiling. Net migration's VIF of 1.17 demonstrates it is completely orthogonal, proving its statistical insignificance is genuine and not masked by collinearity. Our findings were cross-validated across 1,000 nonparametric bootstrap draws and replicated with bitwise parameter parity in both Python and R. The complete pipeline and dataset are fully reproducible under open-science standards.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02920"/>
            <a:ext cx="7772400" cy="4572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03920" y="502920"/>
            <a:ext cx="2956255" cy="45720"/>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85800"/>
            <a:ext cx="10728655" cy="274320"/>
          </a:xfrm>
          <a:prstGeom prst="rect">
            <a:avLst/>
          </a:prstGeom>
          <a:noFill/>
        </p:spPr>
        <p:txBody>
          <a:bodyPr wrap="none">
            <a:spAutoFit/>
          </a:bodyPr>
          <a:lstStyle/>
          <a:p>
            <a:pPr>
              <a:defRPr sz="950" b="1">
                <a:solidFill>
                  <a:srgbClr val="C85A32"/>
                </a:solidFill>
                <a:latin typeface="Segoe UI"/>
              </a:defRPr>
            </a:pPr>
            <a:r>
              <a:t>AMERICAN STATISTICAL ASSOCIATION (ASA) DATAQUEST 2026 | COMPETITION RESEARCH SUBMISSION</a:t>
            </a:r>
          </a:p>
        </p:txBody>
      </p:sp>
      <p:sp>
        <p:nvSpPr>
          <p:cNvPr id="5" name="TextBox 4"/>
          <p:cNvSpPr txBox="1"/>
          <p:nvPr/>
        </p:nvSpPr>
        <p:spPr>
          <a:xfrm>
            <a:off x="731520" y="1051560"/>
            <a:ext cx="10728655" cy="1188720"/>
          </a:xfrm>
          <a:prstGeom prst="rect">
            <a:avLst/>
          </a:prstGeom>
          <a:noFill/>
        </p:spPr>
        <p:txBody>
          <a:bodyPr wrap="square">
            <a:spAutoFit/>
          </a:bodyPr>
          <a:lstStyle/>
          <a:p>
            <a:pPr>
              <a:spcAft>
                <a:spcPts val="200"/>
              </a:spcAft>
              <a:defRPr sz="3600" b="1">
                <a:solidFill>
                  <a:srgbClr val="0F2C59"/>
                </a:solidFill>
                <a:latin typeface="Segoe UI"/>
              </a:defRPr>
            </a:pPr>
            <a:r>
              <a:t>THE ASYMMETRIC WAVE</a:t>
            </a:r>
          </a:p>
          <a:p>
            <a:pPr>
              <a:defRPr sz="1750" b="1">
                <a:solidFill>
                  <a:srgbClr val="C85A32"/>
                </a:solidFill>
                <a:latin typeface="Segoe UI"/>
              </a:defRPr>
            </a:pPr>
            <a:r>
              <a:t>Velocity Divergence, Prospective Ageing, and the Myth of Demographic Reversal</a:t>
            </a:r>
          </a:p>
        </p:txBody>
      </p:sp>
      <p:sp>
        <p:nvSpPr>
          <p:cNvPr id="6" name="Rectangle 5"/>
          <p:cNvSpPr/>
          <p:nvPr/>
        </p:nvSpPr>
        <p:spPr>
          <a:xfrm>
            <a:off x="731520" y="237744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87168"/>
            <a:ext cx="10728655" cy="274320"/>
          </a:xfrm>
          <a:prstGeom prst="rect">
            <a:avLst/>
          </a:prstGeom>
          <a:noFill/>
        </p:spPr>
        <p:txBody>
          <a:bodyPr wrap="none">
            <a:spAutoFit/>
          </a:bodyPr>
          <a:lstStyle/>
          <a:p>
            <a:pPr>
              <a:defRPr sz="1050" b="1">
                <a:solidFill>
                  <a:srgbClr val="0F2C59"/>
                </a:solidFill>
                <a:latin typeface="Segoe UI"/>
              </a:defRPr>
            </a:pPr>
            <a:r>
              <a:t>EXECUTIVE SUMMARY &amp; CORE EMPIRICAL DISCOVERIES</a:t>
            </a:r>
          </a:p>
        </p:txBody>
      </p:sp>
      <p:sp>
        <p:nvSpPr>
          <p:cNvPr id="8" name="TextBox 7"/>
          <p:cNvSpPr txBox="1"/>
          <p:nvPr/>
        </p:nvSpPr>
        <p:spPr>
          <a:xfrm>
            <a:off x="731520" y="2834640"/>
            <a:ext cx="5166360" cy="2743200"/>
          </a:xfrm>
          <a:prstGeom prst="rect">
            <a:avLst/>
          </a:prstGeom>
          <a:noFill/>
        </p:spPr>
        <p:txBody>
          <a:bodyPr wrap="square">
            <a:spAutoFit/>
          </a:bodyPr>
          <a:lstStyle/>
          <a:p>
            <a:pPr>
              <a:spcAft>
                <a:spcPts val="800"/>
              </a:spcAft>
            </a:pPr>
            <a:r>
              <a:rPr sz="1000" b="1">
                <a:solidFill>
                  <a:srgbClr val="0F2C59"/>
                </a:solidFill>
                <a:latin typeface="Segoe UI"/>
              </a:rPr>
              <a:t>1. The Longitudinal Ratchet (P_down = 0.00%): </a:t>
            </a:r>
            <a:r>
              <a:rPr sz="950">
                <a:solidFill>
                  <a:srgbClr val="475569"/>
                </a:solidFill>
                <a:latin typeface="Calibri"/>
              </a:rPr>
              <a:t>Across 155 sovereign nations analyzed between 2000 and 2020, 46 countries (29.7%) crossed into older demographic archetypes while exactly zero experienced downward reversal. Population ageing operates as an irreversible thermodynamic ratchet; national age structures do not rebound.</a:t>
            </a:r>
          </a:p>
          <a:p>
            <a:r>
              <a:rPr sz="1000" b="1">
                <a:solidFill>
                  <a:srgbClr val="0F2C59"/>
                </a:solidFill>
                <a:latin typeface="Segoe UI"/>
              </a:rPr>
              <a:t>2. Velocity Compression ('Getting Old Before Rich'): </a:t>
            </a:r>
            <a:r>
              <a:rPr sz="950">
                <a:solidFill>
                  <a:srgbClr val="475569"/>
                </a:solidFill>
                <a:latin typeface="Calibri"/>
              </a:rPr>
              <a:t>Developing economies in Latin America (+6.61y) and Asia (+6.02y) are ageing at nearly double the historical pace of Northern America (+3.53y). Fast-transitioning emerging markets face apex dependency burdens before consolidating institutional pension wealth or OECD-level GDP per capita.</a:t>
            </a:r>
          </a:p>
        </p:txBody>
      </p:sp>
      <p:sp>
        <p:nvSpPr>
          <p:cNvPr id="9" name="TextBox 8"/>
          <p:cNvSpPr txBox="1"/>
          <p:nvPr/>
        </p:nvSpPr>
        <p:spPr>
          <a:xfrm>
            <a:off x="6293815" y="2834640"/>
            <a:ext cx="5166360" cy="2743200"/>
          </a:xfrm>
          <a:prstGeom prst="rect">
            <a:avLst/>
          </a:prstGeom>
          <a:noFill/>
        </p:spPr>
        <p:txBody>
          <a:bodyPr wrap="square">
            <a:spAutoFit/>
          </a:bodyPr>
          <a:lstStyle/>
          <a:p>
            <a:pPr>
              <a:spcAft>
                <a:spcPts val="800"/>
              </a:spcAft>
            </a:pPr>
            <a:r>
              <a:rPr sz="1000" b="1">
                <a:solidFill>
                  <a:srgbClr val="0F2C59"/>
                </a:solidFill>
                <a:latin typeface="Segoe UI"/>
              </a:rPr>
              <a:t>3. The Actuarial Myth of Migration (p = 0.289): </a:t>
            </a:r>
            <a:r>
              <a:rPr sz="950">
                <a:solidFill>
                  <a:srgbClr val="475569"/>
                </a:solidFill>
                <a:latin typeface="Calibri"/>
              </a:rPr>
              <a:t>Regularized Ridge regression (R² = 0.5902, 5-fold CV) proves net migration is statistically neutral. Counterfactual border closure alters 2050 projected median age by an average of only +2.23 years across top destination economies (+0.82y in Canada to +3.46y in the UK); immigration cannot reverse the wave.</a:t>
            </a:r>
          </a:p>
          <a:p>
            <a:r>
              <a:rPr sz="1000" b="1">
                <a:solidFill>
                  <a:srgbClr val="0F2C59"/>
                </a:solidFill>
                <a:latin typeface="Segoe UI"/>
              </a:rPr>
              <a:t>4. The Prospective Longevity Dividend (1.5–2.2y): </a:t>
            </a:r>
            <a:r>
              <a:rPr sz="950">
                <a:solidFill>
                  <a:srgbClr val="475569"/>
                </a:solidFill>
                <a:latin typeface="Calibri"/>
              </a:rPr>
              <a:t>Remeasuring population ageing using prospective remaining life expectancy (LE65) reveals an uncaptured biological dividend buffering nominal chronological ageing by 1.5 to 2.2 years. Re-indexing retirement to prospective longevity restores fiscal solvency without reducing lifetime retirement.</a:t>
            </a:r>
          </a:p>
        </p:txBody>
      </p:sp>
      <p:sp>
        <p:nvSpPr>
          <p:cNvPr id="10" name="Rectangle 9"/>
          <p:cNvSpPr/>
          <p:nvPr/>
        </p:nvSpPr>
        <p:spPr>
          <a:xfrm>
            <a:off x="731520" y="576072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852160"/>
            <a:ext cx="10728655" cy="502920"/>
          </a:xfrm>
          <a:prstGeom prst="rect">
            <a:avLst/>
          </a:prstGeom>
          <a:noFill/>
        </p:spPr>
        <p:txBody>
          <a:bodyPr wrap="none">
            <a:spAutoFit/>
          </a:bodyPr>
          <a:lstStyle/>
          <a:p>
            <a:pPr>
              <a:defRPr sz="900" b="1">
                <a:solidFill>
                  <a:srgbClr val="1E293B"/>
                </a:solidFill>
                <a:latin typeface="Segoe UI"/>
              </a:defRPr>
            </a:pPr>
            <a:r>
              <a:t>Research Division: Advanced Quantitative Demography &amp; Econometric Modeling | Team Lead: Joseph Dania</a:t>
            </a:r>
          </a:p>
          <a:p>
            <a:pPr>
              <a:defRPr sz="850">
                <a:solidFill>
                  <a:srgbClr val="94A3B8"/>
                </a:solidFill>
                <a:latin typeface="Calibri"/>
              </a:defRPr>
            </a:pPr>
            <a:r>
              <a:t>Empirical Provenance: UN World Population Prospects (WPP) 2024 Revision | Sample: N = 155 Sovereign Nations (Pop ≥ 1M) | Dual Implementation Parity: Python &amp; R | Presentation Time: 4m 30s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777240"/>
          </a:xfrm>
          <a:prstGeom prst="rect">
            <a:avLst/>
          </a:prstGeom>
          <a:noFill/>
        </p:spPr>
        <p:txBody>
          <a:bodyPr wrap="square" lIns="0" tIns="0" rIns="0" bIns="0">
            <a:spAutoFit/>
          </a:bodyPr>
          <a:lstStyle/>
          <a:p>
            <a:pPr>
              <a:spcAft>
                <a:spcPts val="200"/>
              </a:spcAft>
              <a:defRPr sz="900" b="1">
                <a:solidFill>
                  <a:srgbClr val="C85A32"/>
                </a:solidFill>
                <a:latin typeface="Segoe UI"/>
              </a:defRPr>
            </a:pPr>
            <a:r>
              <a:t>MACRO-GEOGRAPHIC ACCELERATION | THE SPATIAL WAVE</a:t>
            </a:r>
          </a:p>
          <a:p>
            <a:pPr>
              <a:defRPr sz="1650" b="1">
                <a:solidFill>
                  <a:srgbClr val="0F2C59"/>
                </a:solidFill>
                <a:latin typeface="Segoe UI"/>
              </a:defRPr>
            </a:pPr>
            <a:r>
              <a:t>Developing Economies Face an Accelerated Ageing Shock: Latin America (+6.6y) &amp; Asia (+6.0y) Outpace the West</a:t>
            </a:r>
          </a:p>
        </p:txBody>
      </p:sp>
      <p:pic>
        <p:nvPicPr>
          <p:cNvPr id="3" name="Picture 2" descr="fig6_map_strip_v2.png"/>
          <p:cNvPicPr>
            <a:picLocks noChangeAspect="1"/>
          </p:cNvPicPr>
          <p:nvPr/>
        </p:nvPicPr>
        <p:blipFill>
          <a:blip r:embed="rId2"/>
          <a:stretch>
            <a:fillRect/>
          </a:stretch>
        </p:blipFill>
        <p:spPr>
          <a:xfrm>
            <a:off x="731520" y="1234440"/>
            <a:ext cx="10728655" cy="2651760"/>
          </a:xfrm>
          <a:prstGeom prst="rect">
            <a:avLst/>
          </a:prstGeom>
        </p:spPr>
      </p:pic>
      <p:sp>
        <p:nvSpPr>
          <p:cNvPr id="4" name="Rectangle 3"/>
          <p:cNvSpPr/>
          <p:nvPr/>
        </p:nvSpPr>
        <p:spPr>
          <a:xfrm>
            <a:off x="731520" y="3977639"/>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4114800"/>
            <a:ext cx="731520" cy="36576"/>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224528"/>
            <a:ext cx="3364992" cy="2011680"/>
          </a:xfrm>
          <a:prstGeom prst="rect">
            <a:avLst/>
          </a:prstGeom>
          <a:noFill/>
        </p:spPr>
        <p:txBody>
          <a:bodyPr wrap="square">
            <a:spAutoFit/>
          </a:bodyPr>
          <a:lstStyle/>
          <a:p>
            <a:pPr>
              <a:spcAft>
                <a:spcPts val="600"/>
              </a:spcAft>
              <a:defRPr sz="1100" b="1">
                <a:solidFill>
                  <a:srgbClr val="1E293B"/>
                </a:solidFill>
                <a:latin typeface="Segoe UI"/>
              </a:defRPr>
            </a:pPr>
            <a:r>
              <a:t>The Longitudinal Ratchet (0% Reversals)</a:t>
            </a:r>
          </a:p>
          <a:p>
            <a:pPr>
              <a:defRPr sz="919">
                <a:solidFill>
                  <a:srgbClr val="475569"/>
                </a:solidFill>
                <a:latin typeface="Calibri"/>
              </a:defRPr>
            </a:pPr>
            <a:r>
              <a:t>Across 155 sovereign nations, 46 countries (29.7%) crossed into older demographic archetypes between 2000 and 2020. Exactly zero countries reversed to a younger stage (P_down = 0.00%). Population ageing operates as an irreversible thermodynamic ratchet; national age structures do not rebound.</a:t>
            </a:r>
          </a:p>
        </p:txBody>
      </p:sp>
      <p:sp>
        <p:nvSpPr>
          <p:cNvPr id="7" name="Rectangle 6"/>
          <p:cNvSpPr/>
          <p:nvPr/>
        </p:nvSpPr>
        <p:spPr>
          <a:xfrm>
            <a:off x="4412894" y="4114800"/>
            <a:ext cx="731520" cy="36576"/>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12894" y="4224528"/>
            <a:ext cx="3364992" cy="2011680"/>
          </a:xfrm>
          <a:prstGeom prst="rect">
            <a:avLst/>
          </a:prstGeom>
          <a:noFill/>
        </p:spPr>
        <p:txBody>
          <a:bodyPr wrap="square">
            <a:spAutoFit/>
          </a:bodyPr>
          <a:lstStyle/>
          <a:p>
            <a:pPr>
              <a:spcAft>
                <a:spcPts val="600"/>
              </a:spcAft>
              <a:defRPr sz="1100" b="1">
                <a:solidFill>
                  <a:srgbClr val="1E293B"/>
                </a:solidFill>
                <a:latin typeface="Segoe UI"/>
              </a:defRPr>
            </a:pPr>
            <a:r>
              <a:t>Compressed Timetables (2x Speed)</a:t>
            </a:r>
          </a:p>
          <a:p>
            <a:pPr>
              <a:defRPr sz="919">
                <a:solidFill>
                  <a:srgbClr val="475569"/>
                </a:solidFill>
                <a:latin typeface="Calibri"/>
              </a:defRPr>
            </a:pPr>
            <a:r>
              <a:t>While Western Europe took 75 years to shift median age from 25 to 38, East Asia and Latin America completed the identical transition in under 25 years. Regional median age accelerated by +6.61y in Latin America and +6.02y in Asia, outstripping Northern America (+3.53y) and Europe (+5.69y).</a:t>
            </a:r>
          </a:p>
        </p:txBody>
      </p:sp>
      <p:sp>
        <p:nvSpPr>
          <p:cNvPr id="9" name="Rectangle 8"/>
          <p:cNvSpPr/>
          <p:nvPr/>
        </p:nvSpPr>
        <p:spPr>
          <a:xfrm>
            <a:off x="8094268" y="4114800"/>
            <a:ext cx="731520"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4268" y="4224528"/>
            <a:ext cx="3364992" cy="2011680"/>
          </a:xfrm>
          <a:prstGeom prst="rect">
            <a:avLst/>
          </a:prstGeom>
          <a:noFill/>
        </p:spPr>
        <p:txBody>
          <a:bodyPr wrap="square">
            <a:spAutoFit/>
          </a:bodyPr>
          <a:lstStyle/>
          <a:p>
            <a:pPr>
              <a:spcAft>
                <a:spcPts val="600"/>
              </a:spcAft>
              <a:defRPr sz="1100" b="1">
                <a:solidFill>
                  <a:srgbClr val="1E293B"/>
                </a:solidFill>
                <a:latin typeface="Segoe UI"/>
              </a:defRPr>
            </a:pPr>
            <a:r>
              <a:t>The 'Pre-Wealth' Solvency Trap</a:t>
            </a:r>
          </a:p>
          <a:p>
            <a:pPr>
              <a:defRPr sz="919">
                <a:solidFill>
                  <a:srgbClr val="475569"/>
                </a:solidFill>
                <a:latin typeface="Calibri"/>
              </a:defRPr>
            </a:pPr>
            <a:r>
              <a:t>Extreme outliers demonstrate unprecedented velocity: Puerto Rico (+13.0y), South Korea (+12.1y), Iran (+11.1y), and Thailand (+9.2y). Because these economies are ageing before reaching OECD income parity, their unfunded PAYGO pension systems face structural collapse.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777240"/>
          </a:xfrm>
          <a:prstGeom prst="rect">
            <a:avLst/>
          </a:prstGeom>
          <a:noFill/>
        </p:spPr>
        <p:txBody>
          <a:bodyPr wrap="square" lIns="0" tIns="0" rIns="0" bIns="0">
            <a:spAutoFit/>
          </a:bodyPr>
          <a:lstStyle/>
          <a:p>
            <a:pPr>
              <a:spcAft>
                <a:spcPts val="200"/>
              </a:spcAft>
              <a:defRPr sz="900" b="1">
                <a:solidFill>
                  <a:srgbClr val="C85A32"/>
                </a:solidFill>
                <a:latin typeface="Segoe UI"/>
              </a:defRPr>
            </a:pPr>
            <a:r>
              <a:t>ECONOMETRIC DECOMPOSITION &amp; COUNTERFACTUAL AUDIT</a:t>
            </a:r>
          </a:p>
          <a:p>
            <a:pPr>
              <a:defRPr sz="1650" b="1">
                <a:solidFill>
                  <a:srgbClr val="0F2C59"/>
                </a:solidFill>
                <a:latin typeface="Segoe UI"/>
              </a:defRPr>
            </a:pPr>
            <a:r>
              <a:t>Fertility Collapse Governs 82% of Velocity; Immigration Cannot Rejuvenate Destination Economies</a:t>
            </a:r>
          </a:p>
        </p:txBody>
      </p:sp>
      <p:pic>
        <p:nvPicPr>
          <p:cNvPr id="3" name="Picture 2" descr="fig3_forest_v2.png"/>
          <p:cNvPicPr>
            <a:picLocks noChangeAspect="1"/>
          </p:cNvPicPr>
          <p:nvPr/>
        </p:nvPicPr>
        <p:blipFill>
          <a:blip r:embed="rId2"/>
          <a:stretch>
            <a:fillRect/>
          </a:stretch>
        </p:blipFill>
        <p:spPr>
          <a:xfrm>
            <a:off x="731520" y="1234440"/>
            <a:ext cx="5303520" cy="2697480"/>
          </a:xfrm>
          <a:prstGeom prst="rect">
            <a:avLst/>
          </a:prstGeom>
        </p:spPr>
      </p:pic>
      <p:pic>
        <p:nvPicPr>
          <p:cNvPr id="4" name="Picture 3" descr="fig5_migration_v2.png"/>
          <p:cNvPicPr>
            <a:picLocks noChangeAspect="1"/>
          </p:cNvPicPr>
          <p:nvPr/>
        </p:nvPicPr>
        <p:blipFill>
          <a:blip r:embed="rId3"/>
          <a:stretch>
            <a:fillRect/>
          </a:stretch>
        </p:blipFill>
        <p:spPr>
          <a:xfrm>
            <a:off x="6217920" y="1234440"/>
            <a:ext cx="5242255" cy="2697480"/>
          </a:xfrm>
          <a:prstGeom prst="rect">
            <a:avLst/>
          </a:prstGeom>
        </p:spPr>
      </p:pic>
      <p:sp>
        <p:nvSpPr>
          <p:cNvPr id="5" name="Rectangle 4"/>
          <p:cNvSpPr/>
          <p:nvPr/>
        </p:nvSpPr>
        <p:spPr>
          <a:xfrm>
            <a:off x="731520" y="3977639"/>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4114800"/>
            <a:ext cx="731520" cy="36576"/>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24528"/>
            <a:ext cx="3364992" cy="2011680"/>
          </a:xfrm>
          <a:prstGeom prst="rect">
            <a:avLst/>
          </a:prstGeom>
          <a:noFill/>
        </p:spPr>
        <p:txBody>
          <a:bodyPr wrap="square">
            <a:spAutoFit/>
          </a:bodyPr>
          <a:lstStyle/>
          <a:p>
            <a:pPr>
              <a:spcAft>
                <a:spcPts val="600"/>
              </a:spcAft>
              <a:defRPr sz="1100" b="1">
                <a:solidFill>
                  <a:srgbClr val="1E293B"/>
                </a:solidFill>
                <a:latin typeface="Segoe UI"/>
              </a:defRPr>
            </a:pPr>
            <a:r>
              <a:t>The Overwhelming Weight of Fertility</a:t>
            </a:r>
          </a:p>
          <a:p>
            <a:pPr>
              <a:defRPr sz="919">
                <a:solidFill>
                  <a:srgbClr val="475569"/>
                </a:solidFill>
                <a:latin typeface="Calibri"/>
              </a:defRPr>
            </a:pPr>
            <a:r>
              <a:t>Regularized Ridge regression (R² = 0.5902, 5-fold CV) proves past fertility collapse (TFR 2000) is the dominant driver of ageing velocity (β = -3.211, p &lt; 0.0001, 95% CI [-3.76, -2.69]). Once fertility drops below replacement, structural cohort momentum locks in rapid population ageing regardless of macro policies.</a:t>
            </a:r>
          </a:p>
        </p:txBody>
      </p:sp>
      <p:sp>
        <p:nvSpPr>
          <p:cNvPr id="8" name="Rectangle 7"/>
          <p:cNvSpPr/>
          <p:nvPr/>
        </p:nvSpPr>
        <p:spPr>
          <a:xfrm>
            <a:off x="4412894" y="4114800"/>
            <a:ext cx="731520" cy="36576"/>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12894" y="4224528"/>
            <a:ext cx="3364992" cy="2011680"/>
          </a:xfrm>
          <a:prstGeom prst="rect">
            <a:avLst/>
          </a:prstGeom>
          <a:noFill/>
        </p:spPr>
        <p:txBody>
          <a:bodyPr wrap="square">
            <a:spAutoFit/>
          </a:bodyPr>
          <a:lstStyle/>
          <a:p>
            <a:pPr>
              <a:spcAft>
                <a:spcPts val="600"/>
              </a:spcAft>
              <a:defRPr sz="1100" b="1">
                <a:solidFill>
                  <a:srgbClr val="1E293B"/>
                </a:solidFill>
                <a:latin typeface="Segoe UI"/>
              </a:defRPr>
            </a:pPr>
            <a:r>
              <a:t>The Statistical Neutrality of Migration</a:t>
            </a:r>
          </a:p>
          <a:p>
            <a:pPr>
              <a:defRPr sz="919">
                <a:solidFill>
                  <a:srgbClr val="475569"/>
                </a:solidFill>
                <a:latin typeface="Calibri"/>
              </a:defRPr>
            </a:pPr>
            <a:r>
              <a:t>In stark contrast to popular policy discourse, Net Migration Rate (CNMR) is statistically indistinguishable from zero (β = -0.174, p = 0.289, 95% Bootstrap CI [-0.76, +0.41]). Cross-national variance in immigration inflows explains less than 1.5% of population ageing velocity across sovereign nations.</a:t>
            </a:r>
          </a:p>
        </p:txBody>
      </p:sp>
      <p:sp>
        <p:nvSpPr>
          <p:cNvPr id="10" name="Rectangle 9"/>
          <p:cNvSpPr/>
          <p:nvPr/>
        </p:nvSpPr>
        <p:spPr>
          <a:xfrm>
            <a:off x="8094268" y="4114800"/>
            <a:ext cx="731520" cy="36576"/>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4268" y="4224528"/>
            <a:ext cx="3364992" cy="2011680"/>
          </a:xfrm>
          <a:prstGeom prst="rect">
            <a:avLst/>
          </a:prstGeom>
          <a:noFill/>
        </p:spPr>
        <p:txBody>
          <a:bodyPr wrap="square">
            <a:spAutoFit/>
          </a:bodyPr>
          <a:lstStyle/>
          <a:p>
            <a:pPr>
              <a:spcAft>
                <a:spcPts val="600"/>
              </a:spcAft>
              <a:defRPr sz="1100" b="1">
                <a:solidFill>
                  <a:srgbClr val="1E293B"/>
                </a:solidFill>
                <a:latin typeface="Segoe UI"/>
              </a:defRPr>
            </a:pPr>
            <a:r>
              <a:t>The Actuarial Counterfactual Proof</a:t>
            </a:r>
          </a:p>
          <a:p>
            <a:pPr>
              <a:defRPr sz="919">
                <a:solidFill>
                  <a:srgbClr val="475569"/>
                </a:solidFill>
                <a:latin typeface="Calibri"/>
              </a:defRPr>
            </a:pPr>
            <a:r>
              <a:t>Querying the UN WPP 2024 Zero-Migration variant confirms the mathematical limit: halting 100% of immigration alters projected 2050 median age by only +0.82y in Canada, +1.82y in Germany, +2.38y in the USA, and +3.46y in the UK. Destination economies still age by +2.2y to +4.5y even under massive immigration.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777240"/>
          </a:xfrm>
          <a:prstGeom prst="rect">
            <a:avLst/>
          </a:prstGeom>
          <a:noFill/>
        </p:spPr>
        <p:txBody>
          <a:bodyPr wrap="square" lIns="0" tIns="0" rIns="0" bIns="0">
            <a:spAutoFit/>
          </a:bodyPr>
          <a:lstStyle/>
          <a:p>
            <a:pPr>
              <a:spcAft>
                <a:spcPts val="200"/>
              </a:spcAft>
              <a:defRPr sz="900" b="1">
                <a:solidFill>
                  <a:srgbClr val="C85A32"/>
                </a:solidFill>
                <a:latin typeface="Segoe UI"/>
              </a:defRPr>
            </a:pPr>
            <a:r>
              <a:t>THE MEASUREMENT REVOLUTION | FUNCTIONAL LONGEVITY METRICS</a:t>
            </a:r>
          </a:p>
          <a:p>
            <a:pPr>
              <a:defRPr sz="1650" b="1">
                <a:solidFill>
                  <a:srgbClr val="0F2C59"/>
                </a:solidFill>
                <a:latin typeface="Segoe UI"/>
              </a:defRPr>
            </a:pPr>
            <a:r>
              <a:t>The Prospective Longevity Dividend: Extending Healthspans Buffer Nominal Ageing by 1.5 to 2.2 Years</a:t>
            </a:r>
          </a:p>
        </p:txBody>
      </p:sp>
      <p:pic>
        <p:nvPicPr>
          <p:cNvPr id="3" name="Picture 2" descr="fig4_prospective_v2.png"/>
          <p:cNvPicPr>
            <a:picLocks noChangeAspect="1"/>
          </p:cNvPicPr>
          <p:nvPr/>
        </p:nvPicPr>
        <p:blipFill>
          <a:blip r:embed="rId2"/>
          <a:stretch>
            <a:fillRect/>
          </a:stretch>
        </p:blipFill>
        <p:spPr>
          <a:xfrm>
            <a:off x="731520" y="1234440"/>
            <a:ext cx="5303520" cy="5074920"/>
          </a:xfrm>
          <a:prstGeom prst="rect">
            <a:avLst/>
          </a:prstGeom>
        </p:spPr>
      </p:pic>
      <p:sp>
        <p:nvSpPr>
          <p:cNvPr id="4" name="Rectangle 3"/>
          <p:cNvSpPr/>
          <p:nvPr/>
        </p:nvSpPr>
        <p:spPr>
          <a:xfrm>
            <a:off x="6217920" y="1234440"/>
            <a:ext cx="524225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27648" y="1298448"/>
            <a:ext cx="1600200" cy="914400"/>
          </a:xfrm>
          <a:prstGeom prst="rect">
            <a:avLst/>
          </a:prstGeom>
          <a:noFill/>
        </p:spPr>
        <p:txBody>
          <a:bodyPr wrap="square">
            <a:spAutoFit/>
          </a:bodyPr>
          <a:lstStyle/>
          <a:p>
            <a:pPr>
              <a:defRPr sz="1600" b="1">
                <a:solidFill>
                  <a:srgbClr val="0284C7"/>
                </a:solidFill>
                <a:latin typeface="Segoe UI"/>
              </a:defRPr>
            </a:pPr>
            <a:r>
              <a:t>+2.2 Years</a:t>
            </a:r>
          </a:p>
          <a:p>
            <a:pPr>
              <a:defRPr sz="750">
                <a:solidFill>
                  <a:srgbClr val="475569"/>
                </a:solidFill>
                <a:latin typeface="Calibri"/>
              </a:defRPr>
            </a:pPr>
            <a:r>
              <a:t>LE65 Longevity Gain</a:t>
            </a:r>
            <a:br/>
            <a:r>
              <a:t>Mean gain in life expectancy at 65 across mature nations since 2000.</a:t>
            </a:r>
          </a:p>
        </p:txBody>
      </p:sp>
      <p:sp>
        <p:nvSpPr>
          <p:cNvPr id="6" name="TextBox 5"/>
          <p:cNvSpPr txBox="1"/>
          <p:nvPr/>
        </p:nvSpPr>
        <p:spPr>
          <a:xfrm>
            <a:off x="8001000" y="1298448"/>
            <a:ext cx="1600200" cy="914400"/>
          </a:xfrm>
          <a:prstGeom prst="rect">
            <a:avLst/>
          </a:prstGeom>
          <a:noFill/>
        </p:spPr>
        <p:txBody>
          <a:bodyPr wrap="square">
            <a:spAutoFit/>
          </a:bodyPr>
          <a:lstStyle/>
          <a:p>
            <a:pPr>
              <a:defRPr sz="1600" b="1">
                <a:solidFill>
                  <a:srgbClr val="C85A32"/>
                </a:solidFill>
                <a:latin typeface="Segoe UI"/>
              </a:defRPr>
            </a:pPr>
            <a:r>
              <a:t>40% – 55%</a:t>
            </a:r>
          </a:p>
          <a:p>
            <a:pPr>
              <a:defRPr sz="750">
                <a:solidFill>
                  <a:srgbClr val="475569"/>
                </a:solidFill>
                <a:latin typeface="Calibri"/>
              </a:defRPr>
            </a:pPr>
            <a:r>
              <a:t>Longevity Buffer</a:t>
            </a:r>
            <a:br/>
            <a:r>
              <a:t>Proportion of chronological ageing offset by biological healthspan.</a:t>
            </a:r>
          </a:p>
        </p:txBody>
      </p:sp>
      <p:sp>
        <p:nvSpPr>
          <p:cNvPr id="7" name="TextBox 6"/>
          <p:cNvSpPr txBox="1"/>
          <p:nvPr/>
        </p:nvSpPr>
        <p:spPr>
          <a:xfrm>
            <a:off x="9692640" y="1298448"/>
            <a:ext cx="1645920" cy="914400"/>
          </a:xfrm>
          <a:prstGeom prst="rect">
            <a:avLst/>
          </a:prstGeom>
          <a:noFill/>
        </p:spPr>
        <p:txBody>
          <a:bodyPr wrap="square">
            <a:spAutoFit/>
          </a:bodyPr>
          <a:lstStyle/>
          <a:p>
            <a:pPr>
              <a:defRPr sz="1600" b="1">
                <a:solidFill>
                  <a:srgbClr val="0F2C59"/>
                </a:solidFill>
                <a:latin typeface="Segoe UI"/>
              </a:defRPr>
            </a:pPr>
            <a:r>
              <a:t>1889 Norm</a:t>
            </a:r>
          </a:p>
          <a:p>
            <a:pPr>
              <a:defRPr sz="750">
                <a:solidFill>
                  <a:srgbClr val="475569"/>
                </a:solidFill>
                <a:latin typeface="Calibri"/>
              </a:defRPr>
            </a:pPr>
            <a:r>
              <a:t>Bismarck Fallacy</a:t>
            </a:r>
            <a:br/>
            <a:r>
              <a:t>Retirement at 65 assumed 8y remaining life; today LE65 exceeds 20.5y.</a:t>
            </a:r>
          </a:p>
        </p:txBody>
      </p:sp>
      <p:sp>
        <p:nvSpPr>
          <p:cNvPr id="8" name="TextBox 7"/>
          <p:cNvSpPr txBox="1"/>
          <p:nvPr/>
        </p:nvSpPr>
        <p:spPr>
          <a:xfrm>
            <a:off x="6217920" y="2395728"/>
            <a:ext cx="5242255" cy="274320"/>
          </a:xfrm>
          <a:prstGeom prst="rect">
            <a:avLst/>
          </a:prstGeom>
          <a:noFill/>
        </p:spPr>
        <p:txBody>
          <a:bodyPr wrap="none">
            <a:spAutoFit/>
          </a:bodyPr>
          <a:lstStyle/>
          <a:p>
            <a:pPr>
              <a:defRPr sz="950" b="1">
                <a:solidFill>
                  <a:srgbClr val="0F2C59"/>
                </a:solidFill>
                <a:latin typeface="Segoe UI"/>
              </a:defRPr>
            </a:pPr>
            <a:r>
              <a:t>EMPIRICAL LONGEVITY DIVIDEND: CHRONOLOGICAL VS. PROSPECTIVE AGE</a:t>
            </a:r>
          </a:p>
        </p:txBody>
      </p:sp>
      <p:graphicFrame>
        <p:nvGraphicFramePr>
          <p:cNvPr id="9" name="Table 8"/>
          <p:cNvGraphicFramePr>
            <a:graphicFrameLocks noGrp="1"/>
          </p:cNvGraphicFramePr>
          <p:nvPr/>
        </p:nvGraphicFramePr>
        <p:xfrm>
          <a:off x="6217920" y="2670048"/>
          <a:ext cx="5242255" cy="1508760"/>
        </p:xfrm>
        <a:graphic>
          <a:graphicData uri="http://schemas.openxmlformats.org/drawingml/2006/table">
            <a:tbl>
              <a:tblPr firstRow="1" bandRow="1">
                <a:tableStyleId>{5C22544A-7EE6-4342-B048-85BDC9FD1C3A}</a:tableStyleId>
              </a:tblPr>
              <a:tblGrid>
                <a:gridCol w="1097280"/>
                <a:gridCol w="1005840"/>
                <a:gridCol w="1005840"/>
                <a:gridCol w="1051560"/>
                <a:gridCol w="1081735"/>
              </a:tblGrid>
              <a:tr h="251460">
                <a:tc>
                  <a:txBody>
                    <a:bodyPr/>
                    <a:lstStyle/>
                    <a:p>
                      <a:pPr algn="l">
                        <a:defRPr sz="850" b="1">
                          <a:solidFill>
                            <a:srgbClr val="FFFFFF"/>
                          </a:solidFill>
                          <a:latin typeface="Segoe UI"/>
                        </a:defRPr>
                      </a:pPr>
                      <a:r>
                        <a:t>Economy</a:t>
                      </a:r>
                    </a:p>
                  </a:txBody>
                  <a:tcPr marL="73152" marR="73152" marT="36576" marB="36576">
                    <a:solidFill>
                      <a:srgbClr val="0F2C59"/>
                    </a:solidFill>
                  </a:tcPr>
                </a:tc>
                <a:tc>
                  <a:txBody>
                    <a:bodyPr/>
                    <a:lstStyle/>
                    <a:p>
                      <a:pPr algn="ctr">
                        <a:defRPr sz="850" b="1">
                          <a:solidFill>
                            <a:srgbClr val="FFFFFF"/>
                          </a:solidFill>
                          <a:latin typeface="Segoe UI"/>
                        </a:defRPr>
                      </a:pPr>
                      <a:r>
                        <a:t>Chronological</a:t>
                      </a:r>
                    </a:p>
                  </a:txBody>
                  <a:tcPr marL="73152" marR="73152" marT="36576" marB="36576">
                    <a:solidFill>
                      <a:srgbClr val="0F2C59"/>
                    </a:solidFill>
                  </a:tcPr>
                </a:tc>
                <a:tc>
                  <a:txBody>
                    <a:bodyPr/>
                    <a:lstStyle/>
                    <a:p>
                      <a:pPr algn="ctr">
                        <a:defRPr sz="850" b="1">
                          <a:solidFill>
                            <a:srgbClr val="FFFFFF"/>
                          </a:solidFill>
                          <a:latin typeface="Segoe UI"/>
                        </a:defRPr>
                      </a:pPr>
                      <a:r>
                        <a:t>Prospective</a:t>
                      </a:r>
                    </a:p>
                  </a:txBody>
                  <a:tcPr marL="73152" marR="73152" marT="36576" marB="36576">
                    <a:solidFill>
                      <a:srgbClr val="0F2C59"/>
                    </a:solidFill>
                  </a:tcPr>
                </a:tc>
                <a:tc>
                  <a:txBody>
                    <a:bodyPr/>
                    <a:lstStyle/>
                    <a:p>
                      <a:pPr algn="ctr">
                        <a:defRPr sz="850" b="1">
                          <a:solidFill>
                            <a:srgbClr val="FFFFFF"/>
                          </a:solidFill>
                          <a:latin typeface="Segoe UI"/>
                        </a:defRPr>
                      </a:pPr>
                      <a:r>
                        <a:t>Dividend (Gain)</a:t>
                      </a:r>
                    </a:p>
                  </a:txBody>
                  <a:tcPr marL="73152" marR="73152" marT="36576" marB="36576">
                    <a:solidFill>
                      <a:srgbClr val="0F2C59"/>
                    </a:solidFill>
                  </a:tcPr>
                </a:tc>
                <a:tc>
                  <a:txBody>
                    <a:bodyPr/>
                    <a:lstStyle/>
                    <a:p>
                      <a:pPr algn="ctr">
                        <a:defRPr sz="850" b="1">
                          <a:solidFill>
                            <a:srgbClr val="FFFFFF"/>
                          </a:solidFill>
                          <a:latin typeface="Segoe UI"/>
                        </a:defRPr>
                      </a:pPr>
                      <a:r>
                        <a:t>Actuarial Status</a:t>
                      </a:r>
                    </a:p>
                  </a:txBody>
                  <a:tcPr marL="73152" marR="73152" marT="36576" marB="36576">
                    <a:solidFill>
                      <a:srgbClr val="0F2C59"/>
                    </a:solidFill>
                  </a:tcPr>
                </a:tc>
              </a:tr>
              <a:tr h="251460">
                <a:tc>
                  <a:txBody>
                    <a:bodyPr/>
                    <a:lstStyle/>
                    <a:p>
                      <a:pPr algn="l">
                        <a:defRPr sz="819" b="0">
                          <a:solidFill>
                            <a:srgbClr val="1E293B"/>
                          </a:solidFill>
                          <a:latin typeface="Calibri"/>
                        </a:defRPr>
                      </a:pPr>
                      <a:r>
                        <a:t>Japan</a:t>
                      </a:r>
                    </a:p>
                  </a:txBody>
                  <a:tcPr marL="73152" marR="73152" marT="36576" marB="36576">
                    <a:solidFill>
                      <a:srgbClr val="F1F5F9"/>
                    </a:solidFill>
                  </a:tcPr>
                </a:tc>
                <a:tc>
                  <a:txBody>
                    <a:bodyPr/>
                    <a:lstStyle/>
                    <a:p>
                      <a:pPr algn="ctr">
                        <a:defRPr sz="819" b="0">
                          <a:solidFill>
                            <a:srgbClr val="1E293B"/>
                          </a:solidFill>
                          <a:latin typeface="Calibri"/>
                        </a:defRPr>
                      </a:pPr>
                      <a:r>
                        <a:t>48.4 yrs</a:t>
                      </a:r>
                    </a:p>
                  </a:txBody>
                  <a:tcPr marL="73152" marR="73152" marT="36576" marB="36576">
                    <a:solidFill>
                      <a:srgbClr val="F1F5F9"/>
                    </a:solidFill>
                  </a:tcPr>
                </a:tc>
                <a:tc>
                  <a:txBody>
                    <a:bodyPr/>
                    <a:lstStyle/>
                    <a:p>
                      <a:pPr algn="ctr">
                        <a:defRPr sz="819" b="0">
                          <a:solidFill>
                            <a:srgbClr val="1E293B"/>
                          </a:solidFill>
                          <a:latin typeface="Calibri"/>
                        </a:defRPr>
                      </a:pPr>
                      <a:r>
                        <a:t>45.8 yrs</a:t>
                      </a:r>
                    </a:p>
                  </a:txBody>
                  <a:tcPr marL="73152" marR="73152" marT="36576" marB="36576">
                    <a:solidFill>
                      <a:srgbClr val="F1F5F9"/>
                    </a:solidFill>
                  </a:tcPr>
                </a:tc>
                <a:tc>
                  <a:txBody>
                    <a:bodyPr/>
                    <a:lstStyle/>
                    <a:p>
                      <a:pPr algn="ctr">
                        <a:defRPr sz="819" b="1">
                          <a:solidFill>
                            <a:srgbClr val="C85A32"/>
                          </a:solidFill>
                          <a:latin typeface="Segoe UI"/>
                        </a:defRPr>
                      </a:pPr>
                      <a:r>
                        <a:t>-2.60 yrs</a:t>
                      </a:r>
                    </a:p>
                  </a:txBody>
                  <a:tcPr marL="73152" marR="73152" marT="36576" marB="36576">
                    <a:solidFill>
                      <a:srgbClr val="F1F5F9"/>
                    </a:solidFill>
                  </a:tcPr>
                </a:tc>
                <a:tc>
                  <a:txBody>
                    <a:bodyPr/>
                    <a:lstStyle/>
                    <a:p>
                      <a:pPr algn="ctr">
                        <a:defRPr sz="819" b="0">
                          <a:solidFill>
                            <a:srgbClr val="1E293B"/>
                          </a:solidFill>
                          <a:latin typeface="Calibri"/>
                        </a:defRPr>
                      </a:pPr>
                      <a:r>
                        <a:t>LE65 = 22.4 yrs</a:t>
                      </a:r>
                    </a:p>
                  </a:txBody>
                  <a:tcPr marL="73152" marR="73152" marT="36576" marB="36576">
                    <a:solidFill>
                      <a:srgbClr val="F1F5F9"/>
                    </a:solidFill>
                  </a:tcPr>
                </a:tc>
              </a:tr>
              <a:tr h="251460">
                <a:tc>
                  <a:txBody>
                    <a:bodyPr/>
                    <a:lstStyle/>
                    <a:p>
                      <a:pPr algn="l">
                        <a:defRPr sz="819" b="0">
                          <a:solidFill>
                            <a:srgbClr val="1E293B"/>
                          </a:solidFill>
                          <a:latin typeface="Calibri"/>
                        </a:defRPr>
                      </a:pPr>
                      <a:r>
                        <a:t>Germany</a:t>
                      </a:r>
                    </a:p>
                  </a:txBody>
                  <a:tcPr marL="73152" marR="73152" marT="36576" marB="36576">
                    <a:solidFill>
                      <a:srgbClr val="FFFFFF"/>
                    </a:solidFill>
                  </a:tcPr>
                </a:tc>
                <a:tc>
                  <a:txBody>
                    <a:bodyPr/>
                    <a:lstStyle/>
                    <a:p>
                      <a:pPr algn="ctr">
                        <a:defRPr sz="819" b="0">
                          <a:solidFill>
                            <a:srgbClr val="1E293B"/>
                          </a:solidFill>
                          <a:latin typeface="Calibri"/>
                        </a:defRPr>
                      </a:pPr>
                      <a:r>
                        <a:t>45.7 yrs</a:t>
                      </a:r>
                    </a:p>
                  </a:txBody>
                  <a:tcPr marL="73152" marR="73152" marT="36576" marB="36576">
                    <a:solidFill>
                      <a:srgbClr val="FFFFFF"/>
                    </a:solidFill>
                  </a:tcPr>
                </a:tc>
                <a:tc>
                  <a:txBody>
                    <a:bodyPr/>
                    <a:lstStyle/>
                    <a:p>
                      <a:pPr algn="ctr">
                        <a:defRPr sz="819" b="0">
                          <a:solidFill>
                            <a:srgbClr val="1E293B"/>
                          </a:solidFill>
                          <a:latin typeface="Calibri"/>
                        </a:defRPr>
                      </a:pPr>
                      <a:r>
                        <a:t>43.8 yrs</a:t>
                      </a:r>
                    </a:p>
                  </a:txBody>
                  <a:tcPr marL="73152" marR="73152" marT="36576" marB="36576">
                    <a:solidFill>
                      <a:srgbClr val="FFFFFF"/>
                    </a:solidFill>
                  </a:tcPr>
                </a:tc>
                <a:tc>
                  <a:txBody>
                    <a:bodyPr/>
                    <a:lstStyle/>
                    <a:p>
                      <a:pPr algn="ctr">
                        <a:defRPr sz="819" b="1">
                          <a:solidFill>
                            <a:srgbClr val="C85A32"/>
                          </a:solidFill>
                          <a:latin typeface="Segoe UI"/>
                        </a:defRPr>
                      </a:pPr>
                      <a:r>
                        <a:t>-1.90 yrs</a:t>
                      </a:r>
                    </a:p>
                  </a:txBody>
                  <a:tcPr marL="73152" marR="73152" marT="36576" marB="36576">
                    <a:solidFill>
                      <a:srgbClr val="FFFFFF"/>
                    </a:solidFill>
                  </a:tcPr>
                </a:tc>
                <a:tc>
                  <a:txBody>
                    <a:bodyPr/>
                    <a:lstStyle/>
                    <a:p>
                      <a:pPr algn="ctr">
                        <a:defRPr sz="819" b="0">
                          <a:solidFill>
                            <a:srgbClr val="1E293B"/>
                          </a:solidFill>
                          <a:latin typeface="Calibri"/>
                        </a:defRPr>
                      </a:pPr>
                      <a:r>
                        <a:t>LE65 = 20.1 yrs</a:t>
                      </a:r>
                    </a:p>
                  </a:txBody>
                  <a:tcPr marL="73152" marR="73152" marT="36576" marB="36576">
                    <a:solidFill>
                      <a:srgbClr val="FFFFFF"/>
                    </a:solidFill>
                  </a:tcPr>
                </a:tc>
              </a:tr>
              <a:tr h="251460">
                <a:tc>
                  <a:txBody>
                    <a:bodyPr/>
                    <a:lstStyle/>
                    <a:p>
                      <a:pPr algn="l">
                        <a:defRPr sz="819" b="0">
                          <a:solidFill>
                            <a:srgbClr val="1E293B"/>
                          </a:solidFill>
                          <a:latin typeface="Calibri"/>
                        </a:defRPr>
                      </a:pPr>
                      <a:r>
                        <a:t>Italy</a:t>
                      </a:r>
                    </a:p>
                  </a:txBody>
                  <a:tcPr marL="73152" marR="73152" marT="36576" marB="36576">
                    <a:solidFill>
                      <a:srgbClr val="F1F5F9"/>
                    </a:solidFill>
                  </a:tcPr>
                </a:tc>
                <a:tc>
                  <a:txBody>
                    <a:bodyPr/>
                    <a:lstStyle/>
                    <a:p>
                      <a:pPr algn="ctr">
                        <a:defRPr sz="819" b="0">
                          <a:solidFill>
                            <a:srgbClr val="1E293B"/>
                          </a:solidFill>
                          <a:latin typeface="Calibri"/>
                        </a:defRPr>
                      </a:pPr>
                      <a:r>
                        <a:t>47.3 yrs</a:t>
                      </a:r>
                    </a:p>
                  </a:txBody>
                  <a:tcPr marL="73152" marR="73152" marT="36576" marB="36576">
                    <a:solidFill>
                      <a:srgbClr val="F1F5F9"/>
                    </a:solidFill>
                  </a:tcPr>
                </a:tc>
                <a:tc>
                  <a:txBody>
                    <a:bodyPr/>
                    <a:lstStyle/>
                    <a:p>
                      <a:pPr algn="ctr">
                        <a:defRPr sz="819" b="0">
                          <a:solidFill>
                            <a:srgbClr val="1E293B"/>
                          </a:solidFill>
                          <a:latin typeface="Calibri"/>
                        </a:defRPr>
                      </a:pPr>
                      <a:r>
                        <a:t>45.8 yrs</a:t>
                      </a:r>
                    </a:p>
                  </a:txBody>
                  <a:tcPr marL="73152" marR="73152" marT="36576" marB="36576">
                    <a:solidFill>
                      <a:srgbClr val="F1F5F9"/>
                    </a:solidFill>
                  </a:tcPr>
                </a:tc>
                <a:tc>
                  <a:txBody>
                    <a:bodyPr/>
                    <a:lstStyle/>
                    <a:p>
                      <a:pPr algn="ctr">
                        <a:defRPr sz="819" b="1">
                          <a:solidFill>
                            <a:srgbClr val="C85A32"/>
                          </a:solidFill>
                          <a:latin typeface="Segoe UI"/>
                        </a:defRPr>
                      </a:pPr>
                      <a:r>
                        <a:t>-1.50 yrs</a:t>
                      </a:r>
                    </a:p>
                  </a:txBody>
                  <a:tcPr marL="73152" marR="73152" marT="36576" marB="36576">
                    <a:solidFill>
                      <a:srgbClr val="F1F5F9"/>
                    </a:solidFill>
                  </a:tcPr>
                </a:tc>
                <a:tc>
                  <a:txBody>
                    <a:bodyPr/>
                    <a:lstStyle/>
                    <a:p>
                      <a:pPr algn="ctr">
                        <a:defRPr sz="819" b="0">
                          <a:solidFill>
                            <a:srgbClr val="1E293B"/>
                          </a:solidFill>
                          <a:latin typeface="Calibri"/>
                        </a:defRPr>
                      </a:pPr>
                      <a:r>
                        <a:t>LE65 = 20.8 yrs</a:t>
                      </a:r>
                    </a:p>
                  </a:txBody>
                  <a:tcPr marL="73152" marR="73152" marT="36576" marB="36576">
                    <a:solidFill>
                      <a:srgbClr val="F1F5F9"/>
                    </a:solidFill>
                  </a:tcPr>
                </a:tc>
              </a:tr>
              <a:tr h="251460">
                <a:tc>
                  <a:txBody>
                    <a:bodyPr/>
                    <a:lstStyle/>
                    <a:p>
                      <a:pPr algn="l">
                        <a:defRPr sz="819" b="0">
                          <a:solidFill>
                            <a:srgbClr val="1E293B"/>
                          </a:solidFill>
                          <a:latin typeface="Calibri"/>
                        </a:defRPr>
                      </a:pPr>
                      <a:r>
                        <a:t>Chile</a:t>
                      </a:r>
                    </a:p>
                  </a:txBody>
                  <a:tcPr marL="73152" marR="73152" marT="36576" marB="36576">
                    <a:solidFill>
                      <a:srgbClr val="FFFFFF"/>
                    </a:solidFill>
                  </a:tcPr>
                </a:tc>
                <a:tc>
                  <a:txBody>
                    <a:bodyPr/>
                    <a:lstStyle/>
                    <a:p>
                      <a:pPr algn="ctr">
                        <a:defRPr sz="819" b="0">
                          <a:solidFill>
                            <a:srgbClr val="1E293B"/>
                          </a:solidFill>
                          <a:latin typeface="Calibri"/>
                        </a:defRPr>
                      </a:pPr>
                      <a:r>
                        <a:t>35.5 yrs</a:t>
                      </a:r>
                    </a:p>
                  </a:txBody>
                  <a:tcPr marL="73152" marR="73152" marT="36576" marB="36576">
                    <a:solidFill>
                      <a:srgbClr val="FFFFFF"/>
                    </a:solidFill>
                  </a:tcPr>
                </a:tc>
                <a:tc>
                  <a:txBody>
                    <a:bodyPr/>
                    <a:lstStyle/>
                    <a:p>
                      <a:pPr algn="ctr">
                        <a:defRPr sz="819" b="0">
                          <a:solidFill>
                            <a:srgbClr val="1E293B"/>
                          </a:solidFill>
                          <a:latin typeface="Calibri"/>
                        </a:defRPr>
                      </a:pPr>
                      <a:r>
                        <a:t>34.3 yrs</a:t>
                      </a:r>
                    </a:p>
                  </a:txBody>
                  <a:tcPr marL="73152" marR="73152" marT="36576" marB="36576">
                    <a:solidFill>
                      <a:srgbClr val="FFFFFF"/>
                    </a:solidFill>
                  </a:tcPr>
                </a:tc>
                <a:tc>
                  <a:txBody>
                    <a:bodyPr/>
                    <a:lstStyle/>
                    <a:p>
                      <a:pPr algn="ctr">
                        <a:defRPr sz="819" b="1">
                          <a:solidFill>
                            <a:srgbClr val="C85A32"/>
                          </a:solidFill>
                          <a:latin typeface="Segoe UI"/>
                        </a:defRPr>
                      </a:pPr>
                      <a:r>
                        <a:t>-1.20 yrs</a:t>
                      </a:r>
                    </a:p>
                  </a:txBody>
                  <a:tcPr marL="73152" marR="73152" marT="36576" marB="36576">
                    <a:solidFill>
                      <a:srgbClr val="FFFFFF"/>
                    </a:solidFill>
                  </a:tcPr>
                </a:tc>
                <a:tc>
                  <a:txBody>
                    <a:bodyPr/>
                    <a:lstStyle/>
                    <a:p>
                      <a:pPr algn="ctr">
                        <a:defRPr sz="819" b="0">
                          <a:solidFill>
                            <a:srgbClr val="1E293B"/>
                          </a:solidFill>
                          <a:latin typeface="Calibri"/>
                        </a:defRPr>
                      </a:pPr>
                      <a:r>
                        <a:t>LE65 = 19.4 yrs</a:t>
                      </a:r>
                    </a:p>
                  </a:txBody>
                  <a:tcPr marL="73152" marR="73152" marT="36576" marB="36576">
                    <a:solidFill>
                      <a:srgbClr val="FFFFFF"/>
                    </a:solidFill>
                  </a:tcPr>
                </a:tc>
              </a:tr>
              <a:tr h="251460">
                <a:tc>
                  <a:txBody>
                    <a:bodyPr/>
                    <a:lstStyle/>
                    <a:p>
                      <a:pPr algn="l">
                        <a:defRPr sz="819" b="0">
                          <a:solidFill>
                            <a:srgbClr val="1E293B"/>
                          </a:solidFill>
                          <a:latin typeface="Calibri"/>
                        </a:defRPr>
                      </a:pPr>
                      <a:r>
                        <a:t>United States</a:t>
                      </a:r>
                    </a:p>
                  </a:txBody>
                  <a:tcPr marL="73152" marR="73152" marT="36576" marB="36576">
                    <a:solidFill>
                      <a:srgbClr val="F1F5F9"/>
                    </a:solidFill>
                  </a:tcPr>
                </a:tc>
                <a:tc>
                  <a:txBody>
                    <a:bodyPr/>
                    <a:lstStyle/>
                    <a:p>
                      <a:pPr algn="ctr">
                        <a:defRPr sz="819" b="0">
                          <a:solidFill>
                            <a:srgbClr val="1E293B"/>
                          </a:solidFill>
                          <a:latin typeface="Calibri"/>
                        </a:defRPr>
                      </a:pPr>
                      <a:r>
                        <a:t>38.3 yrs</a:t>
                      </a:r>
                    </a:p>
                  </a:txBody>
                  <a:tcPr marL="73152" marR="73152" marT="36576" marB="36576">
                    <a:solidFill>
                      <a:srgbClr val="F1F5F9"/>
                    </a:solidFill>
                  </a:tcPr>
                </a:tc>
                <a:tc>
                  <a:txBody>
                    <a:bodyPr/>
                    <a:lstStyle/>
                    <a:p>
                      <a:pPr algn="ctr">
                        <a:defRPr sz="819" b="0">
                          <a:solidFill>
                            <a:srgbClr val="1E293B"/>
                          </a:solidFill>
                          <a:latin typeface="Calibri"/>
                        </a:defRPr>
                      </a:pPr>
                      <a:r>
                        <a:t>36.9 yrs</a:t>
                      </a:r>
                    </a:p>
                  </a:txBody>
                  <a:tcPr marL="73152" marR="73152" marT="36576" marB="36576">
                    <a:solidFill>
                      <a:srgbClr val="F1F5F9"/>
                    </a:solidFill>
                  </a:tcPr>
                </a:tc>
                <a:tc>
                  <a:txBody>
                    <a:bodyPr/>
                    <a:lstStyle/>
                    <a:p>
                      <a:pPr algn="ctr">
                        <a:defRPr sz="819" b="1">
                          <a:solidFill>
                            <a:srgbClr val="C85A32"/>
                          </a:solidFill>
                          <a:latin typeface="Segoe UI"/>
                        </a:defRPr>
                      </a:pPr>
                      <a:r>
                        <a:t>-1.40 yrs</a:t>
                      </a:r>
                    </a:p>
                  </a:txBody>
                  <a:tcPr marL="73152" marR="73152" marT="36576" marB="36576">
                    <a:solidFill>
                      <a:srgbClr val="F1F5F9"/>
                    </a:solidFill>
                  </a:tcPr>
                </a:tc>
                <a:tc>
                  <a:txBody>
                    <a:bodyPr/>
                    <a:lstStyle/>
                    <a:p>
                      <a:pPr algn="ctr">
                        <a:defRPr sz="819" b="0">
                          <a:solidFill>
                            <a:srgbClr val="1E293B"/>
                          </a:solidFill>
                          <a:latin typeface="Calibri"/>
                        </a:defRPr>
                      </a:pPr>
                      <a:r>
                        <a:t>LE65 = 19.7 yrs</a:t>
                      </a:r>
                    </a:p>
                  </a:txBody>
                  <a:tcPr marL="73152" marR="73152" marT="36576" marB="36576">
                    <a:solidFill>
                      <a:srgbClr val="F1F5F9"/>
                    </a:solidFill>
                  </a:tcPr>
                </a:tc>
              </a:tr>
            </a:tbl>
          </a:graphicData>
        </a:graphic>
      </p:graphicFrame>
      <p:sp>
        <p:nvSpPr>
          <p:cNvPr id="10" name="TextBox 9"/>
          <p:cNvSpPr txBox="1"/>
          <p:nvPr/>
        </p:nvSpPr>
        <p:spPr>
          <a:xfrm>
            <a:off x="6217920" y="4297680"/>
            <a:ext cx="5242255" cy="2011680"/>
          </a:xfrm>
          <a:prstGeom prst="rect">
            <a:avLst/>
          </a:prstGeom>
          <a:noFill/>
        </p:spPr>
        <p:txBody>
          <a:bodyPr wrap="square">
            <a:spAutoFit/>
          </a:bodyPr>
          <a:lstStyle/>
          <a:p>
            <a:pPr>
              <a:spcAft>
                <a:spcPts val="400"/>
              </a:spcAft>
              <a:defRPr sz="950" b="1">
                <a:solidFill>
                  <a:srgbClr val="0F2C59"/>
                </a:solidFill>
                <a:latin typeface="Segoe UI"/>
              </a:defRPr>
            </a:pPr>
            <a:r>
              <a:t>THE SANDERSON &amp; SCHERBOV PARADIGM: RE-ANCHORING TO PROSPECTIVE AGE</a:t>
            </a:r>
          </a:p>
          <a:p>
            <a:pPr>
              <a:spcAft>
                <a:spcPts val="400"/>
              </a:spcAft>
            </a:pPr>
            <a:r>
              <a:rPr sz="880" b="1">
                <a:solidFill>
                  <a:srgbClr val="1E293B"/>
                </a:solidFill>
                <a:latin typeface="Segoe UI"/>
              </a:rPr>
              <a:t>The Chronological Fallacy: </a:t>
            </a:r>
            <a:r>
              <a:rPr sz="880">
                <a:solidFill>
                  <a:srgbClr val="475569"/>
                </a:solidFill>
                <a:latin typeface="Calibri"/>
              </a:rPr>
              <a:t>Measuring population ageing solely by years lived since birth treats a 65-year-old today as identical to a 65-year-old in 1900. In reality, mortality schedules have shifted dynamically, expanding biological healthspans and cognitive capacity.</a:t>
            </a:r>
          </a:p>
          <a:p>
            <a:pPr>
              <a:spcAft>
                <a:spcPts val="400"/>
              </a:spcAft>
            </a:pPr>
            <a:r>
              <a:rPr sz="880" b="1">
                <a:solidFill>
                  <a:srgbClr val="1E293B"/>
                </a:solidFill>
                <a:latin typeface="Segoe UI"/>
              </a:rPr>
              <a:t>The Prospective Adjustment: </a:t>
            </a:r>
            <a:r>
              <a:rPr sz="880">
                <a:solidFill>
                  <a:srgbClr val="475569"/>
                </a:solidFill>
                <a:latin typeface="Calibri"/>
              </a:rPr>
              <a:t>Prospective age measures time to average death rather than time from birth. Across all 155 sovereign nations, populations sit significantly below the 45-degree parity line, establishing a structural longevity buffer of 1.5 to 2.2 years.</a:t>
            </a:r>
          </a:p>
          <a:p>
            <a:pPr>
              <a:spcAft>
                <a:spcPts val="400"/>
              </a:spcAft>
            </a:pPr>
            <a:r>
              <a:rPr sz="880" b="1">
                <a:solidFill>
                  <a:srgbClr val="1E293B"/>
                </a:solidFill>
                <a:latin typeface="Segoe UI"/>
              </a:rPr>
              <a:t>The Actuarial Solution: </a:t>
            </a:r>
            <a:r>
              <a:rPr sz="880">
                <a:solidFill>
                  <a:srgbClr val="475569"/>
                </a:solidFill>
                <a:latin typeface="Calibri"/>
              </a:rPr>
              <a:t>Statutory retirement ages fixed at 65 are an obsolete historical artifact. Re-anchoring pension eligibility to prospective life expectancy (LE65) restores actuarial solvency without reducing real lifetime retirement duration.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777240"/>
          </a:xfrm>
          <a:prstGeom prst="rect">
            <a:avLst/>
          </a:prstGeom>
          <a:noFill/>
        </p:spPr>
        <p:txBody>
          <a:bodyPr wrap="square" lIns="0" tIns="0" rIns="0" bIns="0">
            <a:spAutoFit/>
          </a:bodyPr>
          <a:lstStyle/>
          <a:p>
            <a:pPr>
              <a:spcAft>
                <a:spcPts val="200"/>
              </a:spcAft>
              <a:defRPr sz="900" b="1">
                <a:solidFill>
                  <a:srgbClr val="C85A32"/>
                </a:solidFill>
                <a:latin typeface="Segoe UI"/>
              </a:defRPr>
            </a:pPr>
            <a:r>
              <a:t>ACTUARIAL POLICY BLUEPRINT | STRUCTURAL INTERVENTIONS</a:t>
            </a:r>
          </a:p>
          <a:p>
            <a:pPr>
              <a:defRPr sz="1650" b="1">
                <a:solidFill>
                  <a:srgbClr val="0F2C59"/>
                </a:solidFill>
                <a:latin typeface="Segoe UI"/>
              </a:defRPr>
            </a:pPr>
            <a:r>
              <a:t>Beyond Demographic Denial: A Four-Pillar Architecture for Institutional Resilience</a:t>
            </a:r>
          </a:p>
        </p:txBody>
      </p:sp>
      <p:sp>
        <p:nvSpPr>
          <p:cNvPr id="3" name="Rectangle 2"/>
          <p:cNvSpPr/>
          <p:nvPr/>
        </p:nvSpPr>
        <p:spPr>
          <a:xfrm>
            <a:off x="731520" y="1234440"/>
            <a:ext cx="5166360" cy="16916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34440"/>
            <a:ext cx="5166360" cy="36576"/>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07592"/>
            <a:ext cx="4946904" cy="1545336"/>
          </a:xfrm>
          <a:prstGeom prst="rect">
            <a:avLst/>
          </a:prstGeom>
          <a:noFill/>
        </p:spPr>
        <p:txBody>
          <a:bodyPr wrap="square">
            <a:spAutoFit/>
          </a:bodyPr>
          <a:lstStyle/>
          <a:p>
            <a:pPr>
              <a:spcAft>
                <a:spcPts val="100"/>
              </a:spcAft>
              <a:defRPr sz="850" b="1">
                <a:solidFill>
                  <a:srgbClr val="0F2C59"/>
                </a:solidFill>
                <a:latin typeface="Segoe UI"/>
              </a:defRPr>
            </a:pPr>
            <a:r>
              <a:t>PILLAR 1: FISCAL SOLVENCY</a:t>
            </a:r>
          </a:p>
          <a:p>
            <a:pPr>
              <a:spcAft>
                <a:spcPts val="400"/>
              </a:spcAft>
              <a:defRPr sz="1150" b="1">
                <a:solidFill>
                  <a:srgbClr val="1E293B"/>
                </a:solidFill>
                <a:latin typeface="Segoe UI"/>
              </a:defRPr>
            </a:pPr>
            <a:r>
              <a:t>Dynamic Longevity Indexing</a:t>
            </a:r>
          </a:p>
          <a:p>
            <a:pPr>
              <a:spcAft>
                <a:spcPts val="200"/>
              </a:spcAft>
            </a:pPr>
            <a:r>
              <a:rPr sz="819" b="1">
                <a:solidFill>
                  <a:srgbClr val="1E293B"/>
                </a:solidFill>
                <a:latin typeface="Segoe UI"/>
              </a:rPr>
              <a:t>Mechanism: </a:t>
            </a:r>
            <a:r>
              <a:rPr sz="819">
                <a:solidFill>
                  <a:srgbClr val="475569"/>
                </a:solidFill>
                <a:latin typeface="Calibri"/>
              </a:rPr>
              <a:t>Statutory retirement ages must automatically index to remaining life expectancy at age 65 (LE65), following the Sweden/Denmark formula.</a:t>
            </a:r>
          </a:p>
          <a:p>
            <a:pPr>
              <a:spcAft>
                <a:spcPts val="200"/>
              </a:spcAft>
            </a:pPr>
            <a:r>
              <a:rPr sz="819" b="1">
                <a:solidFill>
                  <a:srgbClr val="1E293B"/>
                </a:solidFill>
                <a:latin typeface="Segoe UI"/>
              </a:rPr>
              <a:t>Actuarial Impact: </a:t>
            </a:r>
            <a:r>
              <a:rPr sz="819">
                <a:solidFill>
                  <a:srgbClr val="475569"/>
                </a:solidFill>
                <a:latin typeface="Calibri"/>
              </a:rPr>
              <a:t>Eliminates unfunded PAYGO liability inflation; captures the 1.5–2.2y prospective longevity dividend without annual political deadlock.</a:t>
            </a:r>
          </a:p>
          <a:p>
            <a:pPr>
              <a:spcAft>
                <a:spcPts val="200"/>
              </a:spcAft>
            </a:pPr>
            <a:r>
              <a:rPr sz="819" b="1">
                <a:solidFill>
                  <a:srgbClr val="1E293B"/>
                </a:solidFill>
                <a:latin typeface="Segoe UI"/>
              </a:rPr>
              <a:t>Target KPI: </a:t>
            </a:r>
            <a:r>
              <a:rPr sz="819">
                <a:solidFill>
                  <a:srgbClr val="475569"/>
                </a:solidFill>
                <a:latin typeface="Calibri"/>
              </a:rPr>
              <a:t>Formulaic retirement age pegged to LE65 with a 3-year trailing moving average.</a:t>
            </a:r>
          </a:p>
        </p:txBody>
      </p:sp>
      <p:sp>
        <p:nvSpPr>
          <p:cNvPr id="6" name="Rectangle 5"/>
          <p:cNvSpPr/>
          <p:nvPr/>
        </p:nvSpPr>
        <p:spPr>
          <a:xfrm>
            <a:off x="6293815" y="1234440"/>
            <a:ext cx="5166360" cy="16916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93815" y="1234440"/>
            <a:ext cx="5166360" cy="36576"/>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3543" y="1307592"/>
            <a:ext cx="4946904" cy="1545336"/>
          </a:xfrm>
          <a:prstGeom prst="rect">
            <a:avLst/>
          </a:prstGeom>
          <a:noFill/>
        </p:spPr>
        <p:txBody>
          <a:bodyPr wrap="square">
            <a:spAutoFit/>
          </a:bodyPr>
          <a:lstStyle/>
          <a:p>
            <a:pPr>
              <a:spcAft>
                <a:spcPts val="100"/>
              </a:spcAft>
              <a:defRPr sz="850" b="1">
                <a:solidFill>
                  <a:srgbClr val="C85A32"/>
                </a:solidFill>
                <a:latin typeface="Segoe UI"/>
              </a:defRPr>
            </a:pPr>
            <a:r>
              <a:t>PILLAR 2: EMERGING MARKET CAPITAL</a:t>
            </a:r>
          </a:p>
          <a:p>
            <a:pPr>
              <a:spcAft>
                <a:spcPts val="400"/>
              </a:spcAft>
              <a:defRPr sz="1150" b="1">
                <a:solidFill>
                  <a:srgbClr val="1E293B"/>
                </a:solidFill>
                <a:latin typeface="Segoe UI"/>
              </a:defRPr>
            </a:pPr>
            <a:r>
              <a:t>Pre-Funded Sovereign Reserves</a:t>
            </a:r>
          </a:p>
          <a:p>
            <a:pPr>
              <a:spcAft>
                <a:spcPts val="200"/>
              </a:spcAft>
            </a:pPr>
            <a:r>
              <a:rPr sz="819" b="1">
                <a:solidFill>
                  <a:srgbClr val="1E293B"/>
                </a:solidFill>
                <a:latin typeface="Segoe UI"/>
              </a:rPr>
              <a:t>Mechanism: </a:t>
            </a:r>
            <a:r>
              <a:rPr sz="819">
                <a:solidFill>
                  <a:srgbClr val="475569"/>
                </a:solidFill>
                <a:latin typeface="Calibri"/>
              </a:rPr>
              <a:t>Fast-transitioning emerging economies in Latin America and Asia must pivot from pay-as-you-go to capital-backed sovereign wealth funds.</a:t>
            </a:r>
          </a:p>
          <a:p>
            <a:pPr>
              <a:spcAft>
                <a:spcPts val="200"/>
              </a:spcAft>
            </a:pPr>
            <a:r>
              <a:rPr sz="819" b="1">
                <a:solidFill>
                  <a:srgbClr val="1E293B"/>
                </a:solidFill>
                <a:latin typeface="Segoe UI"/>
              </a:rPr>
              <a:t>Actuarial Impact: </a:t>
            </a:r>
            <a:r>
              <a:rPr sz="819">
                <a:solidFill>
                  <a:srgbClr val="475569"/>
                </a:solidFill>
                <a:latin typeface="Calibri"/>
              </a:rPr>
              <a:t>Mobilizes domestic savings while the demographic window remains open (2026–2035) before dependency ratios peak at 2x historical speed.</a:t>
            </a:r>
          </a:p>
          <a:p>
            <a:pPr>
              <a:spcAft>
                <a:spcPts val="200"/>
              </a:spcAft>
            </a:pPr>
            <a:r>
              <a:rPr sz="819" b="1">
                <a:solidFill>
                  <a:srgbClr val="1E293B"/>
                </a:solidFill>
                <a:latin typeface="Segoe UI"/>
              </a:rPr>
              <a:t>Target KPI: </a:t>
            </a:r>
            <a:r>
              <a:rPr sz="819">
                <a:solidFill>
                  <a:srgbClr val="475569"/>
                </a:solidFill>
                <a:latin typeface="Calibri"/>
              </a:rPr>
              <a:t>Mandatory 4%–6% sovereign wealth capital reserve contribution established before 2032.</a:t>
            </a:r>
          </a:p>
        </p:txBody>
      </p:sp>
      <p:sp>
        <p:nvSpPr>
          <p:cNvPr id="9" name="Rectangle 8"/>
          <p:cNvSpPr/>
          <p:nvPr/>
        </p:nvSpPr>
        <p:spPr>
          <a:xfrm>
            <a:off x="731520" y="3063240"/>
            <a:ext cx="5166360" cy="16916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063240"/>
            <a:ext cx="5166360"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136392"/>
            <a:ext cx="4946904" cy="1545336"/>
          </a:xfrm>
          <a:prstGeom prst="rect">
            <a:avLst/>
          </a:prstGeom>
          <a:noFill/>
        </p:spPr>
        <p:txBody>
          <a:bodyPr wrap="square">
            <a:spAutoFit/>
          </a:bodyPr>
          <a:lstStyle/>
          <a:p>
            <a:pPr>
              <a:spcAft>
                <a:spcPts val="100"/>
              </a:spcAft>
              <a:defRPr sz="850" b="1">
                <a:solidFill>
                  <a:srgbClr val="0284C7"/>
                </a:solidFill>
                <a:latin typeface="Segoe UI"/>
              </a:defRPr>
            </a:pPr>
            <a:r>
              <a:t>PILLAR 3: LABOR FORCE &amp; HEALTHSPAN</a:t>
            </a:r>
          </a:p>
          <a:p>
            <a:pPr>
              <a:spcAft>
                <a:spcPts val="400"/>
              </a:spcAft>
              <a:defRPr sz="1150" b="1">
                <a:solidFill>
                  <a:srgbClr val="1E293B"/>
                </a:solidFill>
                <a:latin typeface="Segoe UI"/>
              </a:defRPr>
            </a:pPr>
            <a:r>
              <a:t>Silver-Economy Human Capital Activation</a:t>
            </a:r>
          </a:p>
          <a:p>
            <a:pPr>
              <a:spcAft>
                <a:spcPts val="200"/>
              </a:spcAft>
            </a:pPr>
            <a:r>
              <a:rPr sz="819" b="1">
                <a:solidFill>
                  <a:srgbClr val="1E293B"/>
                </a:solidFill>
                <a:latin typeface="Segoe UI"/>
              </a:rPr>
              <a:t>Mechanism: </a:t>
            </a:r>
            <a:r>
              <a:rPr sz="819">
                <a:solidFill>
                  <a:srgbClr val="475569"/>
                </a:solidFill>
                <a:latin typeface="Calibri"/>
              </a:rPr>
              <a:t>Eliminate punitive tax cliffs on post-statutory retirement earnings; redirect healthcare expenditure toward preventative morbidity compression.</a:t>
            </a:r>
          </a:p>
          <a:p>
            <a:pPr>
              <a:spcAft>
                <a:spcPts val="200"/>
              </a:spcAft>
            </a:pPr>
            <a:r>
              <a:rPr sz="819" b="1">
                <a:solidFill>
                  <a:srgbClr val="1E293B"/>
                </a:solidFill>
                <a:latin typeface="Segoe UI"/>
              </a:rPr>
              <a:t>Actuarial Impact: </a:t>
            </a:r>
            <a:r>
              <a:rPr sz="819">
                <a:solidFill>
                  <a:srgbClr val="475569"/>
                </a:solidFill>
                <a:latin typeface="Calibri"/>
              </a:rPr>
              <a:t>Expands effective labor supply by 8%–12% among healthy older cohorts, directly dampening old-age dependency ratio growth.</a:t>
            </a:r>
          </a:p>
          <a:p>
            <a:pPr>
              <a:spcAft>
                <a:spcPts val="200"/>
              </a:spcAft>
            </a:pPr>
            <a:r>
              <a:rPr sz="819" b="1">
                <a:solidFill>
                  <a:srgbClr val="1E293B"/>
                </a:solidFill>
                <a:latin typeface="Segoe UI"/>
              </a:rPr>
              <a:t>Target KPI: </a:t>
            </a:r>
            <a:r>
              <a:rPr sz="819">
                <a:solidFill>
                  <a:srgbClr val="475569"/>
                </a:solidFill>
                <a:latin typeface="Calibri"/>
              </a:rPr>
              <a:t>Zero marginal income tax on earned wages post-statutory retirement age.</a:t>
            </a:r>
          </a:p>
        </p:txBody>
      </p:sp>
      <p:sp>
        <p:nvSpPr>
          <p:cNvPr id="12" name="Rectangle 11"/>
          <p:cNvSpPr/>
          <p:nvPr/>
        </p:nvSpPr>
        <p:spPr>
          <a:xfrm>
            <a:off x="6293815" y="3063240"/>
            <a:ext cx="5166360" cy="16916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3815" y="3063240"/>
            <a:ext cx="51663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3543" y="3136392"/>
            <a:ext cx="4946904" cy="1545336"/>
          </a:xfrm>
          <a:prstGeom prst="rect">
            <a:avLst/>
          </a:prstGeom>
          <a:noFill/>
        </p:spPr>
        <p:txBody>
          <a:bodyPr wrap="square">
            <a:spAutoFit/>
          </a:bodyPr>
          <a:lstStyle/>
          <a:p>
            <a:pPr>
              <a:spcAft>
                <a:spcPts val="100"/>
              </a:spcAft>
              <a:defRPr sz="850" b="1">
                <a:solidFill>
                  <a:srgbClr val="D97706"/>
                </a:solidFill>
                <a:latin typeface="Segoe UI"/>
              </a:defRPr>
            </a:pPr>
            <a:r>
              <a:t>PILLAR 4: TOTAL FACTOR PRODUCTIVITY</a:t>
            </a:r>
          </a:p>
          <a:p>
            <a:pPr>
              <a:spcAft>
                <a:spcPts val="400"/>
              </a:spcAft>
              <a:defRPr sz="1150" b="1">
                <a:solidFill>
                  <a:srgbClr val="1E293B"/>
                </a:solidFill>
                <a:latin typeface="Segoe UI"/>
              </a:defRPr>
            </a:pPr>
            <a:r>
              <a:t>Capital Deepening &amp; Cognitive Automation</a:t>
            </a:r>
          </a:p>
          <a:p>
            <a:pPr>
              <a:spcAft>
                <a:spcPts val="200"/>
              </a:spcAft>
            </a:pPr>
            <a:r>
              <a:rPr sz="819" b="1">
                <a:solidFill>
                  <a:srgbClr val="1E293B"/>
                </a:solidFill>
                <a:latin typeface="Segoe UI"/>
              </a:rPr>
              <a:t>Mechanism: </a:t>
            </a:r>
            <a:r>
              <a:rPr sz="819">
                <a:solidFill>
                  <a:srgbClr val="475569"/>
                </a:solidFill>
                <a:latin typeface="Calibri"/>
              </a:rPr>
              <a:t>Subsidize capital-intensive automation, AI cognitive tools, and robotic elder care infrastructure to substitute for shrinking labor headcounts.</a:t>
            </a:r>
          </a:p>
          <a:p>
            <a:pPr>
              <a:spcAft>
                <a:spcPts val="200"/>
              </a:spcAft>
            </a:pPr>
            <a:r>
              <a:rPr sz="819" b="1">
                <a:solidFill>
                  <a:srgbClr val="1E293B"/>
                </a:solidFill>
                <a:latin typeface="Segoe UI"/>
              </a:rPr>
              <a:t>Actuarial Impact: </a:t>
            </a:r>
            <a:r>
              <a:rPr sz="819">
                <a:solidFill>
                  <a:srgbClr val="475569"/>
                </a:solidFill>
                <a:latin typeface="Calibri"/>
              </a:rPr>
              <a:t>Permanently decouples GDP growth from raw population growth; replaces labor volume with surging Total Factor Productivity (TFP).</a:t>
            </a:r>
          </a:p>
          <a:p>
            <a:pPr>
              <a:spcAft>
                <a:spcPts val="200"/>
              </a:spcAft>
            </a:pPr>
            <a:r>
              <a:rPr sz="819" b="1">
                <a:solidFill>
                  <a:srgbClr val="1E293B"/>
                </a:solidFill>
                <a:latin typeface="Segoe UI"/>
              </a:rPr>
              <a:t>Target KPI: </a:t>
            </a:r>
            <a:r>
              <a:rPr sz="819">
                <a:solidFill>
                  <a:srgbClr val="475569"/>
                </a:solidFill>
                <a:latin typeface="Calibri"/>
              </a:rPr>
              <a:t>1.5x accelerated tax deduction for capital investments in workplace automation.</a:t>
            </a:r>
          </a:p>
        </p:txBody>
      </p:sp>
      <p:sp>
        <p:nvSpPr>
          <p:cNvPr id="15" name="Rectangle 14"/>
          <p:cNvSpPr/>
          <p:nvPr/>
        </p:nvSpPr>
        <p:spPr>
          <a:xfrm>
            <a:off x="731520" y="4892040"/>
            <a:ext cx="10728655" cy="141732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892040"/>
            <a:ext cx="10728655" cy="27432"/>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56048"/>
            <a:ext cx="10424160" cy="274320"/>
          </a:xfrm>
          <a:prstGeom prst="rect">
            <a:avLst/>
          </a:prstGeom>
          <a:noFill/>
        </p:spPr>
        <p:txBody>
          <a:bodyPr wrap="none">
            <a:spAutoFit/>
          </a:bodyPr>
          <a:lstStyle/>
          <a:p>
            <a:pPr>
              <a:defRPr sz="950" b="1">
                <a:solidFill>
                  <a:srgbClr val="0F2C59"/>
                </a:solidFill>
                <a:latin typeface="Segoe UI"/>
              </a:defRPr>
            </a:pPr>
            <a:r>
              <a:t>2026–2040 PHASED IMPLEMENTATION TIMELINE &amp; FISCAL TARGETS</a:t>
            </a:r>
          </a:p>
        </p:txBody>
      </p:sp>
      <p:sp>
        <p:nvSpPr>
          <p:cNvPr id="18" name="TextBox 17"/>
          <p:cNvSpPr txBox="1"/>
          <p:nvPr/>
        </p:nvSpPr>
        <p:spPr>
          <a:xfrm>
            <a:off x="868680" y="5193792"/>
            <a:ext cx="3364992" cy="1051560"/>
          </a:xfrm>
          <a:prstGeom prst="rect">
            <a:avLst/>
          </a:prstGeom>
          <a:noFill/>
        </p:spPr>
        <p:txBody>
          <a:bodyPr wrap="square">
            <a:spAutoFit/>
          </a:bodyPr>
          <a:lstStyle/>
          <a:p>
            <a:pPr>
              <a:spcAft>
                <a:spcPts val="200"/>
              </a:spcAft>
              <a:defRPr sz="850" b="1">
                <a:solidFill>
                  <a:srgbClr val="0F2C59"/>
                </a:solidFill>
                <a:latin typeface="Segoe UI"/>
              </a:defRPr>
            </a:pPr>
            <a:r>
              <a:t>Phase 1: 2026–2030 (Institutional Anchoring)</a:t>
            </a:r>
          </a:p>
          <a:p>
            <a:pPr>
              <a:defRPr sz="780">
                <a:solidFill>
                  <a:srgbClr val="475569"/>
                </a:solidFill>
                <a:latin typeface="Calibri"/>
              </a:defRPr>
            </a:pPr>
            <a:r>
              <a:t>• Legislate LE65 statutory retirement indexation formulas.</a:t>
            </a:r>
            <a:br/>
            <a:r>
              <a:t>• Establish sovereign wealth stabilization accounts in Latin America &amp; Asia.</a:t>
            </a:r>
            <a:br/>
            <a:r>
              <a:t>• Restructure tax codes to eliminate penalizing working retirees.</a:t>
            </a:r>
          </a:p>
        </p:txBody>
      </p:sp>
      <p:sp>
        <p:nvSpPr>
          <p:cNvPr id="19" name="TextBox 18"/>
          <p:cNvSpPr txBox="1"/>
          <p:nvPr/>
        </p:nvSpPr>
        <p:spPr>
          <a:xfrm>
            <a:off x="4458614" y="5193792"/>
            <a:ext cx="3364992" cy="1051560"/>
          </a:xfrm>
          <a:prstGeom prst="rect">
            <a:avLst/>
          </a:prstGeom>
          <a:noFill/>
        </p:spPr>
        <p:txBody>
          <a:bodyPr wrap="square">
            <a:spAutoFit/>
          </a:bodyPr>
          <a:lstStyle/>
          <a:p>
            <a:pPr>
              <a:spcAft>
                <a:spcPts val="200"/>
              </a:spcAft>
              <a:defRPr sz="850" b="1">
                <a:solidFill>
                  <a:srgbClr val="C85A32"/>
                </a:solidFill>
                <a:latin typeface="Segoe UI"/>
              </a:defRPr>
            </a:pPr>
            <a:r>
              <a:t>Phase 2: 2030–2035 (Labor &amp; Health Optimization)</a:t>
            </a:r>
          </a:p>
          <a:p>
            <a:pPr>
              <a:defRPr sz="780">
                <a:solidFill>
                  <a:srgbClr val="475569"/>
                </a:solidFill>
                <a:latin typeface="Calibri"/>
              </a:defRPr>
            </a:pPr>
            <a:r>
              <a:t>• Deploy targeted preventative morbidity compression healthcare protocols.</a:t>
            </a:r>
            <a:br/>
            <a:r>
              <a:t>• Scale up silver-economy apprenticeship &amp; flexible work programs.</a:t>
            </a:r>
            <a:br/>
            <a:r>
              <a:t>• Mobilize mandatory 4%-6% sovereign wealth capital reserves before window closes.</a:t>
            </a:r>
          </a:p>
        </p:txBody>
      </p:sp>
      <p:sp>
        <p:nvSpPr>
          <p:cNvPr id="20" name="TextBox 19"/>
          <p:cNvSpPr txBox="1"/>
          <p:nvPr/>
        </p:nvSpPr>
        <p:spPr>
          <a:xfrm>
            <a:off x="8048548" y="5193792"/>
            <a:ext cx="3364992" cy="1051560"/>
          </a:xfrm>
          <a:prstGeom prst="rect">
            <a:avLst/>
          </a:prstGeom>
          <a:noFill/>
        </p:spPr>
        <p:txBody>
          <a:bodyPr wrap="square">
            <a:spAutoFit/>
          </a:bodyPr>
          <a:lstStyle/>
          <a:p>
            <a:pPr>
              <a:spcAft>
                <a:spcPts val="200"/>
              </a:spcAft>
              <a:defRPr sz="850" b="1">
                <a:solidFill>
                  <a:srgbClr val="0284C7"/>
                </a:solidFill>
                <a:latin typeface="Segoe UI"/>
              </a:defRPr>
            </a:pPr>
            <a:r>
              <a:t>Phase 3: 2035–2040+ (Full Productivity Decoupling)</a:t>
            </a:r>
          </a:p>
          <a:p>
            <a:pPr>
              <a:defRPr sz="780">
                <a:solidFill>
                  <a:srgbClr val="475569"/>
                </a:solidFill>
                <a:latin typeface="Calibri"/>
              </a:defRPr>
            </a:pPr>
            <a:r>
              <a:t>• Achieve capital deepening parity via automation &amp; AI elder-care infrastructure.</a:t>
            </a:r>
            <a:br/>
            <a:r>
              <a:t>• Transition PAYGO liabilities permanently to capital-backed reserves.</a:t>
            </a:r>
            <a:br/>
            <a:r>
              <a:t>• Decouple aggregate GDP expansion from raw demographic headcount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777240"/>
          </a:xfrm>
          <a:prstGeom prst="rect">
            <a:avLst/>
          </a:prstGeom>
          <a:noFill/>
        </p:spPr>
        <p:txBody>
          <a:bodyPr wrap="square" lIns="0" tIns="0" rIns="0" bIns="0">
            <a:spAutoFit/>
          </a:bodyPr>
          <a:lstStyle/>
          <a:p>
            <a:pPr>
              <a:spcAft>
                <a:spcPts val="200"/>
              </a:spcAft>
              <a:defRPr sz="900" b="1">
                <a:solidFill>
                  <a:srgbClr val="C85A32"/>
                </a:solidFill>
                <a:latin typeface="Segoe UI"/>
              </a:defRPr>
            </a:pPr>
            <a:r>
              <a:t>METHODOLOGICAL COMPENDIUM | REPRODUCIBILITY PROTOCOL</a:t>
            </a:r>
          </a:p>
          <a:p>
            <a:pPr>
              <a:defRPr sz="1650" b="1">
                <a:solidFill>
                  <a:srgbClr val="0F2C59"/>
                </a:solidFill>
                <a:latin typeface="Segoe UI"/>
              </a:defRPr>
            </a:pPr>
            <a:r>
              <a:t>Econometric Specifications, Collinearity Audits, and Reproducibility Protocol</a:t>
            </a:r>
          </a:p>
        </p:txBody>
      </p:sp>
      <p:sp>
        <p:nvSpPr>
          <p:cNvPr id="3" name="Rectangle 2"/>
          <p:cNvSpPr/>
          <p:nvPr/>
        </p:nvSpPr>
        <p:spPr>
          <a:xfrm>
            <a:off x="731520" y="1234440"/>
            <a:ext cx="3383280" cy="5074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234440"/>
            <a:ext cx="3383280" cy="36576"/>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25880"/>
            <a:ext cx="3163824" cy="320040"/>
          </a:xfrm>
          <a:prstGeom prst="rect">
            <a:avLst/>
          </a:prstGeom>
          <a:noFill/>
        </p:spPr>
        <p:txBody>
          <a:bodyPr wrap="none">
            <a:spAutoFit/>
          </a:bodyPr>
          <a:lstStyle/>
          <a:p>
            <a:pPr>
              <a:defRPr sz="1000" b="1">
                <a:solidFill>
                  <a:srgbClr val="0F2C59"/>
                </a:solidFill>
                <a:latin typeface="Segoe UI"/>
              </a:defRPr>
            </a:pPr>
            <a:r>
              <a:t>1. MULTICOLLINEARITY DIAGNOSTICS (VIF)</a:t>
            </a:r>
          </a:p>
        </p:txBody>
      </p:sp>
      <p:graphicFrame>
        <p:nvGraphicFramePr>
          <p:cNvPr id="6" name="Table 5"/>
          <p:cNvGraphicFramePr>
            <a:graphicFrameLocks noGrp="1"/>
          </p:cNvGraphicFramePr>
          <p:nvPr/>
        </p:nvGraphicFramePr>
        <p:xfrm>
          <a:off x="822960" y="1673352"/>
          <a:ext cx="3200400" cy="2011680"/>
        </p:xfrm>
        <a:graphic>
          <a:graphicData uri="http://schemas.openxmlformats.org/drawingml/2006/table">
            <a:tbl>
              <a:tblPr firstRow="1" bandRow="1">
                <a:tableStyleId>{5C22544A-7EE6-4342-B048-85BDC9FD1C3A}</a:tableStyleId>
              </a:tblPr>
              <a:tblGrid>
                <a:gridCol w="1463040"/>
                <a:gridCol w="502920"/>
                <a:gridCol w="502920"/>
                <a:gridCol w="731520"/>
              </a:tblGrid>
              <a:tr h="335280">
                <a:tc>
                  <a:txBody>
                    <a:bodyPr/>
                    <a:lstStyle/>
                    <a:p>
                      <a:pPr algn="l">
                        <a:defRPr sz="800" b="1">
                          <a:solidFill>
                            <a:srgbClr val="FFFFFF"/>
                          </a:solidFill>
                          <a:latin typeface="Segoe UI"/>
                        </a:defRPr>
                      </a:pPr>
                      <a:r>
                        <a:t>Predictor Variable</a:t>
                      </a:r>
                    </a:p>
                  </a:txBody>
                  <a:tcPr marL="73152" marR="73152" marT="36576" marB="36576">
                    <a:solidFill>
                      <a:srgbClr val="0F2C59"/>
                    </a:solidFill>
                  </a:tcPr>
                </a:tc>
                <a:tc>
                  <a:txBody>
                    <a:bodyPr/>
                    <a:lstStyle/>
                    <a:p>
                      <a:pPr algn="ctr">
                        <a:defRPr sz="800" b="1">
                          <a:solidFill>
                            <a:srgbClr val="FFFFFF"/>
                          </a:solidFill>
                          <a:latin typeface="Segoe UI"/>
                        </a:defRPr>
                      </a:pPr>
                      <a:r>
                        <a:t>VIF</a:t>
                      </a:r>
                    </a:p>
                  </a:txBody>
                  <a:tcPr marL="73152" marR="73152" marT="36576" marB="36576">
                    <a:solidFill>
                      <a:srgbClr val="0F2C59"/>
                    </a:solidFill>
                  </a:tcPr>
                </a:tc>
                <a:tc>
                  <a:txBody>
                    <a:bodyPr/>
                    <a:lstStyle/>
                    <a:p>
                      <a:pPr algn="ctr">
                        <a:defRPr sz="800" b="1">
                          <a:solidFill>
                            <a:srgbClr val="FFFFFF"/>
                          </a:solidFill>
                          <a:latin typeface="Segoe UI"/>
                        </a:defRPr>
                      </a:pPr>
                      <a:r>
                        <a:t>Tol</a:t>
                      </a:r>
                    </a:p>
                  </a:txBody>
                  <a:tcPr marL="73152" marR="73152" marT="36576" marB="36576">
                    <a:solidFill>
                      <a:srgbClr val="0F2C59"/>
                    </a:solidFill>
                  </a:tcPr>
                </a:tc>
                <a:tc>
                  <a:txBody>
                    <a:bodyPr/>
                    <a:lstStyle/>
                    <a:p>
                      <a:pPr algn="r">
                        <a:defRPr sz="800" b="1">
                          <a:solidFill>
                            <a:srgbClr val="FFFFFF"/>
                          </a:solidFill>
                          <a:latin typeface="Segoe UI"/>
                        </a:defRPr>
                      </a:pPr>
                      <a:r>
                        <a:t>Diagnostic</a:t>
                      </a:r>
                    </a:p>
                  </a:txBody>
                  <a:tcPr marL="73152" marR="73152" marT="36576" marB="36576">
                    <a:solidFill>
                      <a:srgbClr val="0F2C59"/>
                    </a:solidFill>
                  </a:tcPr>
                </a:tc>
              </a:tr>
              <a:tr h="335280">
                <a:tc>
                  <a:txBody>
                    <a:bodyPr/>
                    <a:lstStyle/>
                    <a:p>
                      <a:pPr algn="l">
                        <a:defRPr sz="750" b="0">
                          <a:solidFill>
                            <a:srgbClr val="1E293B"/>
                          </a:solidFill>
                          <a:latin typeface="Calibri"/>
                        </a:defRPr>
                      </a:pPr>
                      <a:r>
                        <a:t>Lagged Fertility (TFR)</a:t>
                      </a:r>
                    </a:p>
                  </a:txBody>
                  <a:tcPr marL="73152" marR="73152" marT="36576" marB="36576">
                    <a:solidFill>
                      <a:srgbClr val="F1F5F9"/>
                    </a:solidFill>
                  </a:tcPr>
                </a:tc>
                <a:tc>
                  <a:txBody>
                    <a:bodyPr/>
                    <a:lstStyle/>
                    <a:p>
                      <a:pPr algn="ctr">
                        <a:defRPr sz="750" b="0">
                          <a:solidFill>
                            <a:srgbClr val="1E293B"/>
                          </a:solidFill>
                          <a:latin typeface="Consolas"/>
                        </a:defRPr>
                      </a:pPr>
                      <a:r>
                        <a:t>3.95</a:t>
                      </a:r>
                    </a:p>
                  </a:txBody>
                  <a:tcPr marL="73152" marR="73152" marT="36576" marB="36576">
                    <a:solidFill>
                      <a:srgbClr val="F1F5F9"/>
                    </a:solidFill>
                  </a:tcPr>
                </a:tc>
                <a:tc>
                  <a:txBody>
                    <a:bodyPr/>
                    <a:lstStyle/>
                    <a:p>
                      <a:pPr algn="ctr">
                        <a:defRPr sz="750" b="0">
                          <a:solidFill>
                            <a:srgbClr val="1E293B"/>
                          </a:solidFill>
                          <a:latin typeface="Consolas"/>
                        </a:defRPr>
                      </a:pPr>
                      <a:r>
                        <a:t>0.25</a:t>
                      </a:r>
                    </a:p>
                  </a:txBody>
                  <a:tcPr marL="73152" marR="73152" marT="36576" marB="36576">
                    <a:solidFill>
                      <a:srgbClr val="F1F5F9"/>
                    </a:solidFill>
                  </a:tcPr>
                </a:tc>
                <a:tc>
                  <a:txBody>
                    <a:bodyPr/>
                    <a:lstStyle/>
                    <a:p>
                      <a:pPr algn="r">
                        <a:defRPr sz="750" b="0">
                          <a:solidFill>
                            <a:srgbClr val="1E293B"/>
                          </a:solidFill>
                          <a:latin typeface="Calibri"/>
                        </a:defRPr>
                      </a:pPr>
                      <a:r>
                        <a:t>Robust (&lt;5.0)</a:t>
                      </a:r>
                    </a:p>
                  </a:txBody>
                  <a:tcPr marL="73152" marR="73152" marT="36576" marB="36576">
                    <a:solidFill>
                      <a:srgbClr val="F1F5F9"/>
                    </a:solidFill>
                  </a:tcPr>
                </a:tc>
              </a:tr>
              <a:tr h="335280">
                <a:tc>
                  <a:txBody>
                    <a:bodyPr/>
                    <a:lstStyle/>
                    <a:p>
                      <a:pPr algn="l">
                        <a:defRPr sz="750" b="0">
                          <a:solidFill>
                            <a:srgbClr val="1E293B"/>
                          </a:solidFill>
                          <a:latin typeface="Calibri"/>
                        </a:defRPr>
                      </a:pPr>
                      <a:r>
                        <a:t>Starting Age (2000)</a:t>
                      </a:r>
                    </a:p>
                  </a:txBody>
                  <a:tcPr marL="73152" marR="73152" marT="36576" marB="36576">
                    <a:solidFill>
                      <a:srgbClr val="FFFFFF"/>
                    </a:solidFill>
                  </a:tcPr>
                </a:tc>
                <a:tc>
                  <a:txBody>
                    <a:bodyPr/>
                    <a:lstStyle/>
                    <a:p>
                      <a:pPr algn="ctr">
                        <a:defRPr sz="750" b="0">
                          <a:solidFill>
                            <a:srgbClr val="1E293B"/>
                          </a:solidFill>
                          <a:latin typeface="Consolas"/>
                        </a:defRPr>
                      </a:pPr>
                      <a:r>
                        <a:t>4.42</a:t>
                      </a:r>
                    </a:p>
                  </a:txBody>
                  <a:tcPr marL="73152" marR="73152" marT="36576" marB="36576">
                    <a:solidFill>
                      <a:srgbClr val="FFFFFF"/>
                    </a:solidFill>
                  </a:tcPr>
                </a:tc>
                <a:tc>
                  <a:txBody>
                    <a:bodyPr/>
                    <a:lstStyle/>
                    <a:p>
                      <a:pPr algn="ctr">
                        <a:defRPr sz="750" b="0">
                          <a:solidFill>
                            <a:srgbClr val="1E293B"/>
                          </a:solidFill>
                          <a:latin typeface="Consolas"/>
                        </a:defRPr>
                      </a:pPr>
                      <a:r>
                        <a:t>0.23</a:t>
                      </a:r>
                    </a:p>
                  </a:txBody>
                  <a:tcPr marL="73152" marR="73152" marT="36576" marB="36576">
                    <a:solidFill>
                      <a:srgbClr val="FFFFFF"/>
                    </a:solidFill>
                  </a:tcPr>
                </a:tc>
                <a:tc>
                  <a:txBody>
                    <a:bodyPr/>
                    <a:lstStyle/>
                    <a:p>
                      <a:pPr algn="r">
                        <a:defRPr sz="750" b="0">
                          <a:solidFill>
                            <a:srgbClr val="1E293B"/>
                          </a:solidFill>
                          <a:latin typeface="Calibri"/>
                        </a:defRPr>
                      </a:pPr>
                      <a:r>
                        <a:t>Valid (&lt;5.0)</a:t>
                      </a:r>
                    </a:p>
                  </a:txBody>
                  <a:tcPr marL="73152" marR="73152" marT="36576" marB="36576">
                    <a:solidFill>
                      <a:srgbClr val="FFFFFF"/>
                    </a:solidFill>
                  </a:tcPr>
                </a:tc>
              </a:tr>
              <a:tr h="335280">
                <a:tc>
                  <a:txBody>
                    <a:bodyPr/>
                    <a:lstStyle/>
                    <a:p>
                      <a:pPr algn="l">
                        <a:defRPr sz="750" b="0">
                          <a:solidFill>
                            <a:srgbClr val="1E293B"/>
                          </a:solidFill>
                          <a:latin typeface="Calibri"/>
                        </a:defRPr>
                      </a:pPr>
                      <a:r>
                        <a:t>Apex Longevity (ΔLE65)</a:t>
                      </a:r>
                    </a:p>
                  </a:txBody>
                  <a:tcPr marL="73152" marR="73152" marT="36576" marB="36576">
                    <a:solidFill>
                      <a:srgbClr val="F1F5F9"/>
                    </a:solidFill>
                  </a:tcPr>
                </a:tc>
                <a:tc>
                  <a:txBody>
                    <a:bodyPr/>
                    <a:lstStyle/>
                    <a:p>
                      <a:pPr algn="ctr">
                        <a:defRPr sz="750" b="0">
                          <a:solidFill>
                            <a:srgbClr val="1E293B"/>
                          </a:solidFill>
                          <a:latin typeface="Consolas"/>
                        </a:defRPr>
                      </a:pPr>
                      <a:r>
                        <a:t>1.77</a:t>
                      </a:r>
                    </a:p>
                  </a:txBody>
                  <a:tcPr marL="73152" marR="73152" marT="36576" marB="36576">
                    <a:solidFill>
                      <a:srgbClr val="F1F5F9"/>
                    </a:solidFill>
                  </a:tcPr>
                </a:tc>
                <a:tc>
                  <a:txBody>
                    <a:bodyPr/>
                    <a:lstStyle/>
                    <a:p>
                      <a:pPr algn="ctr">
                        <a:defRPr sz="750" b="0">
                          <a:solidFill>
                            <a:srgbClr val="1E293B"/>
                          </a:solidFill>
                          <a:latin typeface="Consolas"/>
                        </a:defRPr>
                      </a:pPr>
                      <a:r>
                        <a:t>0.56</a:t>
                      </a:r>
                    </a:p>
                  </a:txBody>
                  <a:tcPr marL="73152" marR="73152" marT="36576" marB="36576">
                    <a:solidFill>
                      <a:srgbClr val="F1F5F9"/>
                    </a:solidFill>
                  </a:tcPr>
                </a:tc>
                <a:tc>
                  <a:txBody>
                    <a:bodyPr/>
                    <a:lstStyle/>
                    <a:p>
                      <a:pPr algn="r">
                        <a:defRPr sz="750" b="0">
                          <a:solidFill>
                            <a:srgbClr val="1E293B"/>
                          </a:solidFill>
                          <a:latin typeface="Calibri"/>
                        </a:defRPr>
                      </a:pPr>
                      <a:r>
                        <a:t>Orthogonal</a:t>
                      </a:r>
                    </a:p>
                  </a:txBody>
                  <a:tcPr marL="73152" marR="73152" marT="36576" marB="36576">
                    <a:solidFill>
                      <a:srgbClr val="F1F5F9"/>
                    </a:solidFill>
                  </a:tcPr>
                </a:tc>
              </a:tr>
              <a:tr h="335280">
                <a:tc>
                  <a:txBody>
                    <a:bodyPr/>
                    <a:lstStyle/>
                    <a:p>
                      <a:pPr algn="l">
                        <a:defRPr sz="750" b="0">
                          <a:solidFill>
                            <a:srgbClr val="1E293B"/>
                          </a:solidFill>
                          <a:latin typeface="Calibri"/>
                        </a:defRPr>
                      </a:pPr>
                      <a:r>
                        <a:t>Adult Health (ΔQ1560)</a:t>
                      </a:r>
                    </a:p>
                  </a:txBody>
                  <a:tcPr marL="73152" marR="73152" marT="36576" marB="36576">
                    <a:solidFill>
                      <a:srgbClr val="FFFFFF"/>
                    </a:solidFill>
                  </a:tcPr>
                </a:tc>
                <a:tc>
                  <a:txBody>
                    <a:bodyPr/>
                    <a:lstStyle/>
                    <a:p>
                      <a:pPr algn="ctr">
                        <a:defRPr sz="750" b="0">
                          <a:solidFill>
                            <a:srgbClr val="1E293B"/>
                          </a:solidFill>
                          <a:latin typeface="Consolas"/>
                        </a:defRPr>
                      </a:pPr>
                      <a:r>
                        <a:t>1.49</a:t>
                      </a:r>
                    </a:p>
                  </a:txBody>
                  <a:tcPr marL="73152" marR="73152" marT="36576" marB="36576">
                    <a:solidFill>
                      <a:srgbClr val="FFFFFF"/>
                    </a:solidFill>
                  </a:tcPr>
                </a:tc>
                <a:tc>
                  <a:txBody>
                    <a:bodyPr/>
                    <a:lstStyle/>
                    <a:p>
                      <a:pPr algn="ctr">
                        <a:defRPr sz="750" b="0">
                          <a:solidFill>
                            <a:srgbClr val="1E293B"/>
                          </a:solidFill>
                          <a:latin typeface="Consolas"/>
                        </a:defRPr>
                      </a:pPr>
                      <a:r>
                        <a:t>0.67</a:t>
                      </a:r>
                    </a:p>
                  </a:txBody>
                  <a:tcPr marL="73152" marR="73152" marT="36576" marB="36576">
                    <a:solidFill>
                      <a:srgbClr val="FFFFFF"/>
                    </a:solidFill>
                  </a:tcPr>
                </a:tc>
                <a:tc>
                  <a:txBody>
                    <a:bodyPr/>
                    <a:lstStyle/>
                    <a:p>
                      <a:pPr algn="r">
                        <a:defRPr sz="750" b="0">
                          <a:solidFill>
                            <a:srgbClr val="1E293B"/>
                          </a:solidFill>
                          <a:latin typeface="Calibri"/>
                        </a:defRPr>
                      </a:pPr>
                      <a:r>
                        <a:t>Orthogonal</a:t>
                      </a:r>
                    </a:p>
                  </a:txBody>
                  <a:tcPr marL="73152" marR="73152" marT="36576" marB="36576">
                    <a:solidFill>
                      <a:srgbClr val="FFFFFF"/>
                    </a:solidFill>
                  </a:tcPr>
                </a:tc>
              </a:tr>
              <a:tr h="335280">
                <a:tc>
                  <a:txBody>
                    <a:bodyPr/>
                    <a:lstStyle/>
                    <a:p>
                      <a:pPr algn="l">
                        <a:defRPr sz="750" b="0">
                          <a:solidFill>
                            <a:srgbClr val="1E293B"/>
                          </a:solidFill>
                          <a:latin typeface="Calibri"/>
                        </a:defRPr>
                      </a:pPr>
                      <a:r>
                        <a:t>Net Migration (CNMR)</a:t>
                      </a:r>
                    </a:p>
                  </a:txBody>
                  <a:tcPr marL="73152" marR="73152" marT="36576" marB="36576">
                    <a:solidFill>
                      <a:srgbClr val="F1F5F9"/>
                    </a:solidFill>
                  </a:tcPr>
                </a:tc>
                <a:tc>
                  <a:txBody>
                    <a:bodyPr/>
                    <a:lstStyle/>
                    <a:p>
                      <a:pPr algn="ctr">
                        <a:defRPr sz="750" b="0">
                          <a:solidFill>
                            <a:srgbClr val="1E293B"/>
                          </a:solidFill>
                          <a:latin typeface="Consolas"/>
                        </a:defRPr>
                      </a:pPr>
                      <a:r>
                        <a:t>1.17</a:t>
                      </a:r>
                    </a:p>
                  </a:txBody>
                  <a:tcPr marL="73152" marR="73152" marT="36576" marB="36576">
                    <a:solidFill>
                      <a:srgbClr val="F1F5F9"/>
                    </a:solidFill>
                  </a:tcPr>
                </a:tc>
                <a:tc>
                  <a:txBody>
                    <a:bodyPr/>
                    <a:lstStyle/>
                    <a:p>
                      <a:pPr algn="ctr">
                        <a:defRPr sz="750" b="0">
                          <a:solidFill>
                            <a:srgbClr val="1E293B"/>
                          </a:solidFill>
                          <a:latin typeface="Consolas"/>
                        </a:defRPr>
                      </a:pPr>
                      <a:r>
                        <a:t>0.85</a:t>
                      </a:r>
                    </a:p>
                  </a:txBody>
                  <a:tcPr marL="73152" marR="73152" marT="36576" marB="36576">
                    <a:solidFill>
                      <a:srgbClr val="F1F5F9"/>
                    </a:solidFill>
                  </a:tcPr>
                </a:tc>
                <a:tc>
                  <a:txBody>
                    <a:bodyPr/>
                    <a:lstStyle/>
                    <a:p>
                      <a:pPr algn="r">
                        <a:defRPr sz="750" b="0">
                          <a:solidFill>
                            <a:srgbClr val="1E293B"/>
                          </a:solidFill>
                          <a:latin typeface="Calibri"/>
                        </a:defRPr>
                      </a:pPr>
                      <a:r>
                        <a:t>Orthogonal</a:t>
                      </a:r>
                    </a:p>
                  </a:txBody>
                  <a:tcPr marL="73152" marR="73152" marT="36576" marB="36576">
                    <a:solidFill>
                      <a:srgbClr val="F1F5F9"/>
                    </a:solidFill>
                  </a:tcPr>
                </a:tc>
              </a:tr>
            </a:tbl>
          </a:graphicData>
        </a:graphic>
      </p:graphicFrame>
      <p:sp>
        <p:nvSpPr>
          <p:cNvPr id="7" name="TextBox 6"/>
          <p:cNvSpPr txBox="1"/>
          <p:nvPr/>
        </p:nvSpPr>
        <p:spPr>
          <a:xfrm>
            <a:off x="841248" y="3794760"/>
            <a:ext cx="3163824" cy="2331720"/>
          </a:xfrm>
          <a:prstGeom prst="rect">
            <a:avLst/>
          </a:prstGeom>
          <a:noFill/>
        </p:spPr>
        <p:txBody>
          <a:bodyPr wrap="square">
            <a:spAutoFit/>
          </a:bodyPr>
          <a:lstStyle/>
          <a:p>
            <a:pPr>
              <a:spcAft>
                <a:spcPts val="200"/>
              </a:spcAft>
              <a:defRPr sz="880" b="1">
                <a:solidFill>
                  <a:srgbClr val="0F2C59"/>
                </a:solidFill>
                <a:latin typeface="Segoe UI"/>
              </a:defRPr>
            </a:pPr>
            <a:r>
              <a:t>Econometric Diagnostic Verdict:</a:t>
            </a:r>
          </a:p>
          <a:p>
            <a:pPr>
              <a:spcAft>
                <a:spcPts val="600"/>
              </a:spcAft>
              <a:defRPr sz="819">
                <a:solidFill>
                  <a:srgbClr val="475569"/>
                </a:solidFill>
                <a:latin typeface="Calibri"/>
              </a:defRPr>
            </a:pPr>
            <a:r>
              <a:t>All Variance Inflation Factors remain comfortably below the conservative 5.0 ceiling (mean VIF = 2.56), confirming econometric stability, absence of multicollinear inflation, and absolute validity of the fertility dominance finding.</a:t>
            </a:r>
          </a:p>
          <a:p>
            <a:pPr>
              <a:spcAft>
                <a:spcPts val="200"/>
              </a:spcAft>
              <a:defRPr sz="880" b="1">
                <a:solidFill>
                  <a:srgbClr val="0F2C59"/>
                </a:solidFill>
                <a:latin typeface="Segoe UI"/>
              </a:defRPr>
            </a:pPr>
            <a:r>
              <a:t>Correlation Structure Summary:</a:t>
            </a:r>
          </a:p>
          <a:p>
            <a:pPr>
              <a:defRPr sz="800">
                <a:solidFill>
                  <a:srgbClr val="475569"/>
                </a:solidFill>
                <a:latin typeface="Calibri"/>
              </a:defRPr>
            </a:pPr>
            <a:r>
              <a:t>• TFR &amp; Starting Median Age: r = -0.86</a:t>
            </a:r>
            <a:br/>
            <a:r>
              <a:t>• Migration &amp; Starting Median Age: r = +0.28</a:t>
            </a:r>
            <a:br/>
            <a:r>
              <a:t>• Migration &amp; Apex Longevity: r = +0.14</a:t>
            </a:r>
            <a:br/>
            <a:r>
              <a:t>Orthogonality of CNMR verifies that its statistical insignificance is structural, not an artifact of collinear masking.</a:t>
            </a:r>
          </a:p>
        </p:txBody>
      </p:sp>
      <p:sp>
        <p:nvSpPr>
          <p:cNvPr id="8" name="Rectangle 7"/>
          <p:cNvSpPr/>
          <p:nvPr/>
        </p:nvSpPr>
        <p:spPr>
          <a:xfrm>
            <a:off x="4403750" y="1234440"/>
            <a:ext cx="3383280" cy="5074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3750" y="1234440"/>
            <a:ext cx="3383280" cy="36576"/>
          </a:xfrm>
          <a:prstGeom prst="rect">
            <a:avLst/>
          </a:prstGeom>
          <a:solidFill>
            <a:srgbClr val="C85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3478" y="1325880"/>
            <a:ext cx="3163824" cy="4892040"/>
          </a:xfrm>
          <a:prstGeom prst="rect">
            <a:avLst/>
          </a:prstGeom>
          <a:noFill/>
        </p:spPr>
        <p:txBody>
          <a:bodyPr wrap="square">
            <a:spAutoFit/>
          </a:bodyPr>
          <a:lstStyle/>
          <a:p>
            <a:pPr>
              <a:spcAft>
                <a:spcPts val="500"/>
              </a:spcAft>
              <a:defRPr sz="1000" b="1">
                <a:solidFill>
                  <a:srgbClr val="C85A32"/>
                </a:solidFill>
                <a:latin typeface="Segoe UI"/>
              </a:defRPr>
            </a:pPr>
            <a:r>
              <a:t>2. REGULARIZED MODEL COMPARISON</a:t>
            </a:r>
          </a:p>
          <a:p>
            <a:pPr>
              <a:spcAft>
                <a:spcPts val="300"/>
              </a:spcAft>
            </a:pPr>
            <a:r>
              <a:rPr sz="819" b="1">
                <a:solidFill>
                  <a:srgbClr val="1E293B"/>
                </a:solidFill>
                <a:latin typeface="Segoe UI"/>
              </a:rPr>
              <a:t>Econometric Specification: </a:t>
            </a:r>
            <a:r>
              <a:rPr sz="800">
                <a:solidFill>
                  <a:srgbClr val="475569"/>
                </a:solidFill>
                <a:latin typeface="Calibri"/>
              </a:rPr>
              <a:t>ΔMedianAge = β₀ + β₁·TFR₂₀₀₀ + β₂·MedianAge₂₀₀₀ + β₃·ΔLE₆₅ + β₄·ΔQ₁₅₋₆₀ + β₅·CNMR + ε across N = 155 sovereign nations.</a:t>
            </a:r>
          </a:p>
          <a:p>
            <a:pPr>
              <a:spcAft>
                <a:spcPts val="300"/>
              </a:spcAft>
            </a:pPr>
            <a:r>
              <a:rPr sz="819" b="1">
                <a:solidFill>
                  <a:srgbClr val="1E293B"/>
                </a:solidFill>
                <a:latin typeface="Segoe UI"/>
              </a:rPr>
              <a:t>Regularization Objective: </a:t>
            </a:r>
            <a:r>
              <a:rPr sz="800">
                <a:solidFill>
                  <a:srgbClr val="475569"/>
                </a:solidFill>
                <a:latin typeface="Calibri"/>
              </a:rPr>
              <a:t>Ridge L2 loss: argmin_β { ||y - Xβ||² + λ||β||² } with λ tuned over 100 log-spaced grid points.</a:t>
            </a:r>
          </a:p>
          <a:p>
            <a:pPr>
              <a:spcAft>
                <a:spcPts val="300"/>
              </a:spcAft>
            </a:pPr>
            <a:r>
              <a:rPr sz="819" b="1">
                <a:solidFill>
                  <a:srgbClr val="1E293B"/>
                </a:solidFill>
                <a:latin typeface="Segoe UI"/>
              </a:rPr>
              <a:t>Cross-Validation &amp; Fit: </a:t>
            </a:r>
            <a:r>
              <a:rPr sz="800">
                <a:solidFill>
                  <a:srgbClr val="475569"/>
                </a:solidFill>
                <a:latin typeface="Calibri"/>
              </a:rPr>
              <a:t>5-Fold CV yields optimal α = 0.0001 with Overall Model Fit R² = 0.5902. Lasso retains all 5 structural predictors without shrinkage to null.</a:t>
            </a:r>
          </a:p>
          <a:p>
            <a:pPr>
              <a:spcAft>
                <a:spcPts val="300"/>
              </a:spcAft>
            </a:pPr>
            <a:r>
              <a:rPr sz="819" b="1">
                <a:solidFill>
                  <a:srgbClr val="1E293B"/>
                </a:solidFill>
                <a:latin typeface="Segoe UI"/>
              </a:rPr>
              <a:t>Bootstrap Inference (1,000 Draws): </a:t>
            </a:r>
            <a:r>
              <a:rPr sz="800">
                <a:solidFill>
                  <a:srgbClr val="475569"/>
                </a:solidFill>
                <a:latin typeface="Calibri"/>
              </a:rPr>
              <a:t>Empirical 95% CIs: TFR β = -3.211 [-3.76, -2.69], CNMR β = -0.174 [-0.76, +0.41]. Net migration spans zero, confirming statistical neutrality.</a:t>
            </a:r>
          </a:p>
          <a:p>
            <a:pPr>
              <a:spcAft>
                <a:spcPts val="300"/>
              </a:spcAft>
            </a:pPr>
            <a:r>
              <a:rPr sz="819" b="1">
                <a:solidFill>
                  <a:srgbClr val="1E293B"/>
                </a:solidFill>
                <a:latin typeface="Segoe UI"/>
              </a:rPr>
              <a:t>Markov Transition Dynamics (N = 155): </a:t>
            </a:r>
            <a:r>
              <a:rPr sz="800">
                <a:solidFill>
                  <a:srgbClr val="475569"/>
                </a:solidFill>
                <a:latin typeface="Calibri"/>
              </a:rPr>
              <a:t>
• Stayers in Same Archetype: 109 nations (70.3%)
• Upward Transition to Older Archetype: 46 nations (29.7%)
• Downward Transition to Younger Archetype: 0 nations (0.00%)
Empirical verification of the 0% downward reversal ratchet.</a:t>
            </a:r>
          </a:p>
          <a:p>
            <a:pPr>
              <a:spcAft>
                <a:spcPts val="300"/>
              </a:spcAft>
            </a:pPr>
            <a:r>
              <a:rPr sz="819" b="1">
                <a:solidFill>
                  <a:srgbClr val="1E293B"/>
                </a:solidFill>
                <a:latin typeface="Segoe UI"/>
              </a:rPr>
              <a:t>Dual-Language Reproducibility: </a:t>
            </a:r>
            <a:r>
              <a:rPr sz="800">
                <a:solidFill>
                  <a:srgbClr val="475569"/>
                </a:solidFill>
                <a:latin typeface="Calibri"/>
              </a:rPr>
              <a:t>Bitwise-identical parameters verified across Python 3.11+ (scikit-learn) and R 4.3+ (glmnet).</a:t>
            </a:r>
          </a:p>
        </p:txBody>
      </p:sp>
      <p:sp>
        <p:nvSpPr>
          <p:cNvPr id="11" name="Rectangle 10"/>
          <p:cNvSpPr/>
          <p:nvPr/>
        </p:nvSpPr>
        <p:spPr>
          <a:xfrm>
            <a:off x="8075980" y="1234440"/>
            <a:ext cx="3383280" cy="50749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75980" y="1234440"/>
            <a:ext cx="3383280"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5708" y="1325880"/>
            <a:ext cx="3163824" cy="4892040"/>
          </a:xfrm>
          <a:prstGeom prst="rect">
            <a:avLst/>
          </a:prstGeom>
          <a:noFill/>
        </p:spPr>
        <p:txBody>
          <a:bodyPr wrap="square">
            <a:spAutoFit/>
          </a:bodyPr>
          <a:lstStyle/>
          <a:p>
            <a:pPr>
              <a:spcAft>
                <a:spcPts val="500"/>
              </a:spcAft>
              <a:defRPr sz="1000" b="1">
                <a:solidFill>
                  <a:srgbClr val="0284C7"/>
                </a:solidFill>
                <a:latin typeface="Segoe UI"/>
              </a:defRPr>
            </a:pPr>
            <a:r>
              <a:t>3. PROVENANCE &amp; PEER-REVIEWED SOURCES</a:t>
            </a:r>
          </a:p>
          <a:p>
            <a:pPr>
              <a:spcAft>
                <a:spcPts val="300"/>
              </a:spcAft>
            </a:pPr>
            <a:r>
              <a:rPr sz="819" b="1">
                <a:solidFill>
                  <a:srgbClr val="1E293B"/>
                </a:solidFill>
                <a:latin typeface="Segoe UI"/>
              </a:rPr>
              <a:t>United Nations DESA Population Division (2024)
</a:t>
            </a:r>
            <a:r>
              <a:rPr sz="780">
                <a:solidFill>
                  <a:srgbClr val="475569"/>
                </a:solidFill>
                <a:latin typeface="Calibri"/>
              </a:rPr>
              <a:t>World Population Prospects: The 2024 Revision. Primary dataset comprising 35,787 country-year observations spanning 1950–2100. Standard UN Medium and Zero-Migration variants.</a:t>
            </a:r>
          </a:p>
          <a:p>
            <a:pPr>
              <a:spcAft>
                <a:spcPts val="300"/>
              </a:spcAft>
            </a:pPr>
            <a:r>
              <a:rPr sz="819" b="1">
                <a:solidFill>
                  <a:srgbClr val="1E293B"/>
                </a:solidFill>
                <a:latin typeface="Segoe UI"/>
              </a:rPr>
              <a:t>Sanderson, W. C., &amp; Scherbov, S. (2010)
</a:t>
            </a:r>
            <a:r>
              <a:rPr sz="780">
                <a:solidFill>
                  <a:srgbClr val="475569"/>
                </a:solidFill>
                <a:latin typeface="Calibri"/>
              </a:rPr>
              <a:t>Remeasuring Aging. Science, 329(5997), 1287–1288. Theoretical and empirical foundation for prospective age and functional mortality indexing.</a:t>
            </a:r>
          </a:p>
          <a:p>
            <a:pPr>
              <a:spcAft>
                <a:spcPts val="300"/>
              </a:spcAft>
            </a:pPr>
            <a:r>
              <a:rPr sz="819" b="1">
                <a:solidFill>
                  <a:srgbClr val="1E293B"/>
                </a:solidFill>
                <a:latin typeface="Segoe UI"/>
              </a:rPr>
              <a:t>Lee, R. D., &amp; Carter, L. R. (1992)
</a:t>
            </a:r>
            <a:r>
              <a:rPr sz="780">
                <a:solidFill>
                  <a:srgbClr val="475569"/>
                </a:solidFill>
                <a:latin typeface="Calibri"/>
              </a:rPr>
              <a:t>Modeling and Forecasting U.S. Mortality. Journal of the American Statistical Association, 87(419), 659–671. Stochastic mortality basis underlying UN WPP projections.</a:t>
            </a:r>
          </a:p>
          <a:p>
            <a:pPr>
              <a:spcAft>
                <a:spcPts val="300"/>
              </a:spcAft>
            </a:pPr>
            <a:r>
              <a:rPr sz="819" b="1">
                <a:solidFill>
                  <a:srgbClr val="1E293B"/>
                </a:solidFill>
                <a:latin typeface="Segoe UI"/>
              </a:rPr>
              <a:t>Bloom, D. E., &amp; Canning, D. (2004)
</a:t>
            </a:r>
            <a:r>
              <a:rPr sz="780">
                <a:solidFill>
                  <a:srgbClr val="475569"/>
                </a:solidFill>
                <a:latin typeface="Calibri"/>
              </a:rPr>
              <a:t>Global Demographic Change: Dimensions and Economic Significance. Macroeconomic framework for demographic dividends and dependency ratios.</a:t>
            </a:r>
          </a:p>
          <a:p>
            <a:pPr>
              <a:spcAft>
                <a:spcPts val="300"/>
              </a:spcAft>
            </a:pPr>
            <a:r>
              <a:rPr sz="819" b="1">
                <a:solidFill>
                  <a:srgbClr val="1E293B"/>
                </a:solidFill>
                <a:latin typeface="Segoe UI"/>
              </a:rPr>
              <a:t>Open Science Stack &amp; Replication Archive
</a:t>
            </a:r>
            <a:r>
              <a:rPr sz="780">
                <a:solidFill>
                  <a:srgbClr val="475569"/>
                </a:solidFill>
                <a:latin typeface="Calibri"/>
              </a:rPr>
              <a:t>• Python 3.11+ / NumPy 1.26 / Pandas 2.2 / Scikit-Learn 1.4
• R 4.3+ / Tidyverse / GLMNet / Boot
• Scripts: asymmetric_wave_pipeline.py &amp; asymmetric_wave_analysis.R
Full reproduction pipeline, data manifests, and scripts available on GitHub under MIT Open License.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